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 1 (manuscript imag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ver: panel A title"/>
          <p:cNvSpPr/>
          <p:nvPr/>
        </p:nvSpPr>
        <p:spPr>
          <a:xfrm>
            <a:off x="243840" y="304800"/>
            <a:ext cx="3962400" cy="3810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1" name="text: panel A title"/>
          <p:cNvSpPr txBox="1"/>
          <p:nvPr/>
        </p:nvSpPr>
        <p:spPr>
          <a:xfrm>
            <a:off x="283464" y="304800"/>
            <a:ext cx="393192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(A) Fixed, pre-defined sampling</a:t>
            </a:r>
          </a:p>
        </p:txBody>
      </p:sp>
      <p:sp>
        <p:nvSpPr>
          <p:cNvPr id="12" name="cover: pictogram (person)"/>
          <p:cNvSpPr/>
          <p:nvPr/>
        </p:nvSpPr>
        <p:spPr>
          <a:xfrm>
            <a:off x="182880" y="4693920"/>
            <a:ext cx="1036320" cy="97536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3" name="cover: pictogram (money)"/>
          <p:cNvSpPr/>
          <p:nvPr/>
        </p:nvSpPr>
        <p:spPr>
          <a:xfrm>
            <a:off x="3200400" y="5090160"/>
            <a:ext cx="822960" cy="70104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4" name="cover: Blind Exploration"/>
          <p:cNvSpPr/>
          <p:nvPr/>
        </p:nvSpPr>
        <p:spPr>
          <a:xfrm>
            <a:off x="548640" y="5715000"/>
            <a:ext cx="3169920" cy="3810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5" name="text: panel A caption"/>
          <p:cNvSpPr txBox="1"/>
          <p:nvPr/>
        </p:nvSpPr>
        <p:spPr>
          <a:xfrm>
            <a:off x="548640" y="5715000"/>
            <a:ext cx="316992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  <a:cs typeface="Arial"/>
              </a:rPr>
              <a:t>Representative coverage</a:t>
            </a:r>
          </a:p>
        </p:txBody>
      </p:sp>
      <p:sp>
        <p:nvSpPr>
          <p:cNvPr id="16" name="cover: panel A description"/>
          <p:cNvSpPr/>
          <p:nvPr/>
        </p:nvSpPr>
        <p:spPr>
          <a:xfrm>
            <a:off x="548640" y="6019800"/>
            <a:ext cx="3169920" cy="47244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7" name="text: panel A description"/>
          <p:cNvSpPr txBox="1"/>
          <p:nvPr/>
        </p:nvSpPr>
        <p:spPr>
          <a:xfrm>
            <a:off x="548640" y="6019800"/>
            <a:ext cx="3169920" cy="472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0" dirty="0">
                <a:solidFill>
                  <a:srgbClr val="000000"/>
                </a:solidFill>
                <a:latin typeface="Arial"/>
                <a:cs typeface="Arial"/>
              </a:rPr>
              <a:t>Information gained during the survey</a:t>
            </a:r>
          </a:p>
          <a:p>
            <a:pPr algn="ctr">
              <a:lnSpc>
                <a:spcPct val="100000"/>
              </a:lnSpc>
            </a:pPr>
            <a:r>
              <a:rPr lang="en-US" sz="1300" b="0" dirty="0">
                <a:solidFill>
                  <a:srgbClr val="000000"/>
                </a:solidFill>
                <a:latin typeface="Arial"/>
                <a:cs typeface="Arial"/>
              </a:rPr>
              <a:t>is not used to choose further sites</a:t>
            </a:r>
          </a:p>
        </p:txBody>
      </p:sp>
      <p:sp>
        <p:nvSpPr>
          <p:cNvPr id="18" name="cover: pilot box label"/>
          <p:cNvSpPr/>
          <p:nvPr/>
        </p:nvSpPr>
        <p:spPr>
          <a:xfrm>
            <a:off x="4800600" y="1173480"/>
            <a:ext cx="1676400" cy="234696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19" name="text: pilot box"/>
          <p:cNvSpPr txBox="1"/>
          <p:nvPr/>
        </p:nvSpPr>
        <p:spPr>
          <a:xfrm>
            <a:off x="4800600" y="1173480"/>
            <a:ext cx="1676400" cy="234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Few points &amp; covariates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