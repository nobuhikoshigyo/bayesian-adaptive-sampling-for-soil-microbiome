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470293-47D4-3C49-B49F-9E79EE8DA0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86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69E22C9-2E35-549F-60E3-1B975820CFDC}"/>
              </a:ext>
            </a:extLst>
          </p:cNvPr>
          <p:cNvSpPr/>
          <p:nvPr/>
        </p:nvSpPr>
        <p:spPr>
          <a:xfrm>
            <a:off x="4304889" y="116115"/>
            <a:ext cx="7712940" cy="6561696"/>
          </a:xfrm>
          <a:prstGeom prst="roundRect">
            <a:avLst>
              <a:gd name="adj" fmla="val 280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668B573-2CAE-6195-1D97-268701B89D43}"/>
              </a:ext>
            </a:extLst>
          </p:cNvPr>
          <p:cNvSpPr/>
          <p:nvPr/>
        </p:nvSpPr>
        <p:spPr>
          <a:xfrm>
            <a:off x="174173" y="116115"/>
            <a:ext cx="4067216" cy="6561696"/>
          </a:xfrm>
          <a:prstGeom prst="roundRect">
            <a:avLst>
              <a:gd name="adj" fmla="val 328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AD837A-50F6-8722-E4F6-60C971BBFF02}"/>
              </a:ext>
            </a:extLst>
          </p:cNvPr>
          <p:cNvSpPr txBox="1"/>
          <p:nvPr/>
        </p:nvSpPr>
        <p:spPr>
          <a:xfrm>
            <a:off x="174173" y="244265"/>
            <a:ext cx="5036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Both"/>
            </a:pPr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Fixed, Pre-defined Sampling</a:t>
            </a:r>
          </a:p>
          <a:p>
            <a:pPr marL="444500"/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(e.g., Grid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sampling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8D4A31-0593-7CCE-E941-CB4DEB044E49}"/>
              </a:ext>
            </a:extLst>
          </p:cNvPr>
          <p:cNvSpPr txBox="1"/>
          <p:nvPr/>
        </p:nvSpPr>
        <p:spPr>
          <a:xfrm>
            <a:off x="4334958" y="238386"/>
            <a:ext cx="7638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(B) Bayesian Adaptive Sampling (BAS) Framework</a:t>
            </a:r>
            <a:endParaRPr kumimoji="1" lang="ja-JP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下矢印 1">
            <a:extLst>
              <a:ext uri="{FF2B5EF4-FFF2-40B4-BE49-F238E27FC236}">
                <a16:creationId xmlns:a16="http://schemas.microsoft.com/office/drawing/2014/main" id="{EF6F72D6-D2C9-7B78-E89B-D75026174892}"/>
              </a:ext>
            </a:extLst>
          </p:cNvPr>
          <p:cNvSpPr/>
          <p:nvPr/>
        </p:nvSpPr>
        <p:spPr>
          <a:xfrm>
            <a:off x="1615116" y="3969378"/>
            <a:ext cx="1077286" cy="798512"/>
          </a:xfrm>
          <a:prstGeom prst="downArrow">
            <a:avLst/>
          </a:prstGeom>
          <a:gradFill flip="none" rotWithShape="1">
            <a:gsLst>
              <a:gs pos="0">
                <a:srgbClr val="E8E8E8"/>
              </a:gs>
              <a:gs pos="79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C40CDB16-4E1B-AA40-CF43-4847566EA633}"/>
              </a:ext>
            </a:extLst>
          </p:cNvPr>
          <p:cNvGrpSpPr>
            <a:grpSpLocks noChangeAspect="1"/>
          </p:cNvGrpSpPr>
          <p:nvPr/>
        </p:nvGrpSpPr>
        <p:grpSpPr>
          <a:xfrm>
            <a:off x="336426" y="1029900"/>
            <a:ext cx="3685041" cy="2896023"/>
            <a:chOff x="394569" y="662028"/>
            <a:chExt cx="4598674" cy="3614035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7E702BF0-7B68-9EFA-E652-C79340DE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692" t="14076" r="7623" b="14313"/>
            <a:stretch>
              <a:fillRect/>
            </a:stretch>
          </p:blipFill>
          <p:spPr>
            <a:xfrm>
              <a:off x="595281" y="717551"/>
              <a:ext cx="4197648" cy="3549650"/>
            </a:xfrm>
            <a:prstGeom prst="rect">
              <a:avLst/>
            </a:prstGeom>
          </p:spPr>
        </p:pic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1103E46F-CF61-1269-755F-D449FDAC29FA}"/>
                </a:ext>
              </a:extLst>
            </p:cNvPr>
            <p:cNvSpPr/>
            <p:nvPr/>
          </p:nvSpPr>
          <p:spPr>
            <a:xfrm rot="321015">
              <a:off x="394569" y="680211"/>
              <a:ext cx="374586" cy="3595852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FC93B1B-A192-4181-307A-27348575BA90}"/>
                </a:ext>
              </a:extLst>
            </p:cNvPr>
            <p:cNvSpPr/>
            <p:nvPr/>
          </p:nvSpPr>
          <p:spPr>
            <a:xfrm rot="21275754">
              <a:off x="4618657" y="662028"/>
              <a:ext cx="374586" cy="3595852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38A5185-FFDA-F5F8-EB2F-DE9A37354AAE}"/>
              </a:ext>
            </a:extLst>
          </p:cNvPr>
          <p:cNvSpPr txBox="1"/>
          <p:nvPr/>
        </p:nvSpPr>
        <p:spPr>
          <a:xfrm>
            <a:off x="2517251" y="3969378"/>
            <a:ext cx="1726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  <a:p>
            <a:pPr algn="ctr"/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7CB62E9-72B8-CE5B-45A6-ADAF85ED0183}"/>
              </a:ext>
            </a:extLst>
          </p:cNvPr>
          <p:cNvSpPr txBox="1"/>
          <p:nvPr/>
        </p:nvSpPr>
        <p:spPr>
          <a:xfrm>
            <a:off x="1342973" y="4882780"/>
            <a:ext cx="1613158" cy="408623"/>
          </a:xfrm>
          <a:prstGeom prst="roundRect">
            <a:avLst>
              <a:gd name="adj" fmla="val 2699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角丸四角形 79">
            <a:extLst>
              <a:ext uri="{FF2B5EF4-FFF2-40B4-BE49-F238E27FC236}">
                <a16:creationId xmlns:a16="http://schemas.microsoft.com/office/drawing/2014/main" id="{46E6D825-6B2E-B989-069E-F9F7677F785E}"/>
              </a:ext>
            </a:extLst>
          </p:cNvPr>
          <p:cNvSpPr/>
          <p:nvPr/>
        </p:nvSpPr>
        <p:spPr>
          <a:xfrm>
            <a:off x="4589718" y="750571"/>
            <a:ext cx="2072187" cy="1866624"/>
          </a:xfrm>
          <a:prstGeom prst="roundRect">
            <a:avLst>
              <a:gd name="adj" fmla="val 12421"/>
            </a:avLst>
          </a:prstGeom>
          <a:solidFill>
            <a:srgbClr val="E5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9" name="図 78">
            <a:extLst>
              <a:ext uri="{FF2B5EF4-FFF2-40B4-BE49-F238E27FC236}">
                <a16:creationId xmlns:a16="http://schemas.microsoft.com/office/drawing/2014/main" id="{0A389958-03F4-7662-98FF-F5F546BFF3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77" t="14154" r="7765" b="14051"/>
          <a:stretch>
            <a:fillRect/>
          </a:stretch>
        </p:blipFill>
        <p:spPr>
          <a:xfrm>
            <a:off x="4932259" y="1397706"/>
            <a:ext cx="1387099" cy="1174955"/>
          </a:xfrm>
          <a:prstGeom prst="rect">
            <a:avLst/>
          </a:prstGeom>
        </p:spPr>
      </p:pic>
      <p:pic>
        <p:nvPicPr>
          <p:cNvPr id="81" name="図 80">
            <a:extLst>
              <a:ext uri="{FF2B5EF4-FFF2-40B4-BE49-F238E27FC236}">
                <a16:creationId xmlns:a16="http://schemas.microsoft.com/office/drawing/2014/main" id="{8539EF2F-8F2F-0B9D-30CA-892132F457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31" t="18482" r="15799" b="15230"/>
          <a:stretch>
            <a:fillRect/>
          </a:stretch>
        </p:blipFill>
        <p:spPr>
          <a:xfrm>
            <a:off x="7742027" y="1451125"/>
            <a:ext cx="1366294" cy="1166070"/>
          </a:xfrm>
          <a:prstGeom prst="rect">
            <a:avLst/>
          </a:prstGeom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72692A71-7C19-8193-2FDD-AF0311C978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81" t="19166" r="17361" b="15897"/>
          <a:stretch>
            <a:fillRect/>
          </a:stretch>
        </p:blipFill>
        <p:spPr>
          <a:xfrm>
            <a:off x="9324572" y="1451126"/>
            <a:ext cx="1366294" cy="1164976"/>
          </a:xfrm>
          <a:prstGeom prst="rect">
            <a:avLst/>
          </a:prstGeom>
        </p:spPr>
      </p:pic>
      <p:sp>
        <p:nvSpPr>
          <p:cNvPr id="84" name="片側の 2 つの角を丸めた四角形 83">
            <a:extLst>
              <a:ext uri="{FF2B5EF4-FFF2-40B4-BE49-F238E27FC236}">
                <a16:creationId xmlns:a16="http://schemas.microsoft.com/office/drawing/2014/main" id="{D301D0D9-F466-51D5-358F-7F8E787E845D}"/>
              </a:ext>
            </a:extLst>
          </p:cNvPr>
          <p:cNvSpPr/>
          <p:nvPr/>
        </p:nvSpPr>
        <p:spPr>
          <a:xfrm>
            <a:off x="4589717" y="750571"/>
            <a:ext cx="2072187" cy="369332"/>
          </a:xfrm>
          <a:prstGeom prst="round2SameRect">
            <a:avLst>
              <a:gd name="adj1" fmla="val 4028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52B64137-48CB-2FE2-0F38-0A0153E02049}"/>
              </a:ext>
            </a:extLst>
          </p:cNvPr>
          <p:cNvSpPr txBox="1"/>
          <p:nvPr/>
        </p:nvSpPr>
        <p:spPr>
          <a:xfrm>
            <a:off x="4656228" y="774767"/>
            <a:ext cx="1802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Initial Sampling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C2E95BDD-6D62-A2BE-49DE-9991EF803E4C}"/>
              </a:ext>
            </a:extLst>
          </p:cNvPr>
          <p:cNvSpPr txBox="1"/>
          <p:nvPr/>
        </p:nvSpPr>
        <p:spPr>
          <a:xfrm>
            <a:off x="4589716" y="1098814"/>
            <a:ext cx="2072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Few points &amp; covariates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片側の 2 つの角を丸めた四角形 87">
            <a:extLst>
              <a:ext uri="{FF2B5EF4-FFF2-40B4-BE49-F238E27FC236}">
                <a16:creationId xmlns:a16="http://schemas.microsoft.com/office/drawing/2014/main" id="{474D90E9-F25C-3C6D-6454-12F41A50397A}"/>
              </a:ext>
            </a:extLst>
          </p:cNvPr>
          <p:cNvSpPr/>
          <p:nvPr/>
        </p:nvSpPr>
        <p:spPr>
          <a:xfrm>
            <a:off x="8764743" y="726358"/>
            <a:ext cx="2072187" cy="369332"/>
          </a:xfrm>
          <a:prstGeom prst="round2SameRect">
            <a:avLst>
              <a:gd name="adj1" fmla="val 4028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54F812-C539-E9FB-2118-EF746ACC12A9}"/>
              </a:ext>
            </a:extLst>
          </p:cNvPr>
          <p:cNvSpPr txBox="1"/>
          <p:nvPr/>
        </p:nvSpPr>
        <p:spPr>
          <a:xfrm>
            <a:off x="8899789" y="741747"/>
            <a:ext cx="1927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Spatial Modeling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C950C33B-B7F2-76A3-7F64-30C3A84C867F}"/>
              </a:ext>
            </a:extLst>
          </p:cNvPr>
          <p:cNvSpPr txBox="1"/>
          <p:nvPr/>
        </p:nvSpPr>
        <p:spPr>
          <a:xfrm>
            <a:off x="498751" y="5644201"/>
            <a:ext cx="331000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Representative Coverage</a:t>
            </a:r>
          </a:p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Information gained during the survey </a:t>
            </a:r>
            <a:b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is not used to choose further sites</a:t>
            </a:r>
            <a:endParaRPr kumimoji="1" lang="ja-JP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1" name="グラフィックス 1040" descr="コンピューター 単色塗りつぶし">
            <a:extLst>
              <a:ext uri="{FF2B5EF4-FFF2-40B4-BE49-F238E27FC236}">
                <a16:creationId xmlns:a16="http://schemas.microsoft.com/office/drawing/2014/main" id="{37B48C3F-8B6D-EF67-8766-8B5B34175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53181" y="743900"/>
            <a:ext cx="755771" cy="755771"/>
          </a:xfrm>
          <a:prstGeom prst="rect">
            <a:avLst/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D26AF3F-1464-E3D5-D11E-0C4ABA20AD69}"/>
              </a:ext>
            </a:extLst>
          </p:cNvPr>
          <p:cNvGrpSpPr/>
          <p:nvPr/>
        </p:nvGrpSpPr>
        <p:grpSpPr>
          <a:xfrm>
            <a:off x="4500520" y="4978748"/>
            <a:ext cx="939737" cy="1276363"/>
            <a:chOff x="5387253" y="4532026"/>
            <a:chExt cx="939737" cy="1276363"/>
          </a:xfrm>
        </p:grpSpPr>
        <p:sp>
          <p:nvSpPr>
            <p:cNvPr id="1044" name="円/楕円 1043">
              <a:extLst>
                <a:ext uri="{FF2B5EF4-FFF2-40B4-BE49-F238E27FC236}">
                  <a16:creationId xmlns:a16="http://schemas.microsoft.com/office/drawing/2014/main" id="{4818A777-67BC-848E-843D-C79B87EED7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3211" y="4901904"/>
              <a:ext cx="249558" cy="2495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5" name="角丸四角形 1044">
              <a:extLst>
                <a:ext uri="{FF2B5EF4-FFF2-40B4-BE49-F238E27FC236}">
                  <a16:creationId xmlns:a16="http://schemas.microsoft.com/office/drawing/2014/main" id="{2BCF8AAC-12D7-51F8-4CF8-B65F5DDD96EF}"/>
                </a:ext>
              </a:extLst>
            </p:cNvPr>
            <p:cNvSpPr/>
            <p:nvPr/>
          </p:nvSpPr>
          <p:spPr>
            <a:xfrm rot="3872528">
              <a:off x="5904783" y="5253584"/>
              <a:ext cx="442071" cy="17419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6" name="角丸四角形 1045">
              <a:extLst>
                <a:ext uri="{FF2B5EF4-FFF2-40B4-BE49-F238E27FC236}">
                  <a16:creationId xmlns:a16="http://schemas.microsoft.com/office/drawing/2014/main" id="{18A062EB-E2C2-8B1D-3B12-27C2355CE076}"/>
                </a:ext>
              </a:extLst>
            </p:cNvPr>
            <p:cNvSpPr/>
            <p:nvPr/>
          </p:nvSpPr>
          <p:spPr>
            <a:xfrm>
              <a:off x="5956637" y="5459527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7" name="角丸四角形 1046">
              <a:extLst>
                <a:ext uri="{FF2B5EF4-FFF2-40B4-BE49-F238E27FC236}">
                  <a16:creationId xmlns:a16="http://schemas.microsoft.com/office/drawing/2014/main" id="{0F5F0080-4B12-9CB0-C121-DBD26FA94723}"/>
                </a:ext>
              </a:extLst>
            </p:cNvPr>
            <p:cNvSpPr/>
            <p:nvPr/>
          </p:nvSpPr>
          <p:spPr>
            <a:xfrm rot="16200000">
              <a:off x="5842363" y="5589471"/>
              <a:ext cx="328374" cy="10946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8" name="角丸四角形 1047">
              <a:extLst>
                <a:ext uri="{FF2B5EF4-FFF2-40B4-BE49-F238E27FC236}">
                  <a16:creationId xmlns:a16="http://schemas.microsoft.com/office/drawing/2014/main" id="{6249D288-CA6C-4DBE-EBBB-F724D752B5C9}"/>
                </a:ext>
              </a:extLst>
            </p:cNvPr>
            <p:cNvSpPr/>
            <p:nvPr/>
          </p:nvSpPr>
          <p:spPr>
            <a:xfrm rot="18565487">
              <a:off x="5561362" y="5483121"/>
              <a:ext cx="466195" cy="45719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9" name="フローチャート: 論理積ゲート 1048">
              <a:extLst>
                <a:ext uri="{FF2B5EF4-FFF2-40B4-BE49-F238E27FC236}">
                  <a16:creationId xmlns:a16="http://schemas.microsoft.com/office/drawing/2014/main" id="{49B19A86-ECE0-9EEA-81C0-B86D145F0892}"/>
                </a:ext>
              </a:extLst>
            </p:cNvPr>
            <p:cNvSpPr/>
            <p:nvPr/>
          </p:nvSpPr>
          <p:spPr>
            <a:xfrm rot="7901878">
              <a:off x="5553359" y="5618190"/>
              <a:ext cx="158810" cy="149882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0" name="アーチ 1049">
              <a:extLst>
                <a:ext uri="{FF2B5EF4-FFF2-40B4-BE49-F238E27FC236}">
                  <a16:creationId xmlns:a16="http://schemas.microsoft.com/office/drawing/2014/main" id="{DD970E1A-DBD7-F91A-6E40-39557FD3D4C6}"/>
                </a:ext>
              </a:extLst>
            </p:cNvPr>
            <p:cNvSpPr>
              <a:spLocks noChangeAspect="1"/>
            </p:cNvSpPr>
            <p:nvPr/>
          </p:nvSpPr>
          <p:spPr>
            <a:xfrm rot="5830448">
              <a:off x="5387253" y="4738526"/>
              <a:ext cx="777421" cy="777421"/>
            </a:xfrm>
            <a:prstGeom prst="blockArc">
              <a:avLst>
                <a:gd name="adj1" fmla="val 17691001"/>
                <a:gd name="adj2" fmla="val 20986681"/>
                <a:gd name="adj3" fmla="val 9431"/>
              </a:avLst>
            </a:prstGeom>
            <a:solidFill>
              <a:schemeClr val="tx1"/>
            </a:solidFill>
            <a:ln>
              <a:solidFill>
                <a:srgbClr val="E8E8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51" name="角丸四角形 1050">
              <a:extLst>
                <a:ext uri="{FF2B5EF4-FFF2-40B4-BE49-F238E27FC236}">
                  <a16:creationId xmlns:a16="http://schemas.microsoft.com/office/drawing/2014/main" id="{8B8AC3C6-412E-5D44-E70D-DF078335A06E}"/>
                </a:ext>
              </a:extLst>
            </p:cNvPr>
            <p:cNvSpPr/>
            <p:nvPr/>
          </p:nvSpPr>
          <p:spPr>
            <a:xfrm rot="3521820">
              <a:off x="6121916" y="5579363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2" name="円/楕円 1051">
              <a:extLst>
                <a:ext uri="{FF2B5EF4-FFF2-40B4-BE49-F238E27FC236}">
                  <a16:creationId xmlns:a16="http://schemas.microsoft.com/office/drawing/2014/main" id="{FF7F50E8-ED3D-45B6-19AE-44552762B4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8580" y="5712363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3" name="円/楕円 1052">
              <a:extLst>
                <a:ext uri="{FF2B5EF4-FFF2-40B4-BE49-F238E27FC236}">
                  <a16:creationId xmlns:a16="http://schemas.microsoft.com/office/drawing/2014/main" id="{05F33017-5ED8-D73E-B877-3CE9FFA679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4894" y="5726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4" name="円/楕円 1053">
              <a:extLst>
                <a:ext uri="{FF2B5EF4-FFF2-40B4-BE49-F238E27FC236}">
                  <a16:creationId xmlns:a16="http://schemas.microsoft.com/office/drawing/2014/main" id="{42DC3349-B839-7CCC-E3D4-CBC52269FA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83104" y="5739363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5" name="円/楕円 1054">
              <a:extLst>
                <a:ext uri="{FF2B5EF4-FFF2-40B4-BE49-F238E27FC236}">
                  <a16:creationId xmlns:a16="http://schemas.microsoft.com/office/drawing/2014/main" id="{EF677AC2-CADF-1A57-2124-5A36F82851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8343" y="5753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6" name="円/楕円 1055">
              <a:extLst>
                <a:ext uri="{FF2B5EF4-FFF2-40B4-BE49-F238E27FC236}">
                  <a16:creationId xmlns:a16="http://schemas.microsoft.com/office/drawing/2014/main" id="{7B3F8A21-F6AA-618A-002D-FA3D96FB22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01318" y="573348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7" name="円/楕円 1056">
              <a:extLst>
                <a:ext uri="{FF2B5EF4-FFF2-40B4-BE49-F238E27FC236}">
                  <a16:creationId xmlns:a16="http://schemas.microsoft.com/office/drawing/2014/main" id="{A9EC3FCC-24AC-15D2-083D-8C78A48BAE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2683" y="575413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8" name="円/楕円 1057">
              <a:extLst>
                <a:ext uri="{FF2B5EF4-FFF2-40B4-BE49-F238E27FC236}">
                  <a16:creationId xmlns:a16="http://schemas.microsoft.com/office/drawing/2014/main" id="{C9069207-29BC-420D-1090-6A570BA8C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11097" y="5726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9" name="円/楕円 1058">
              <a:extLst>
                <a:ext uri="{FF2B5EF4-FFF2-40B4-BE49-F238E27FC236}">
                  <a16:creationId xmlns:a16="http://schemas.microsoft.com/office/drawing/2014/main" id="{6DF294CB-67B7-90F0-4CF5-A7994BB07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5284" y="574366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0" name="円/楕円 1059">
              <a:extLst>
                <a:ext uri="{FF2B5EF4-FFF2-40B4-BE49-F238E27FC236}">
                  <a16:creationId xmlns:a16="http://schemas.microsoft.com/office/drawing/2014/main" id="{8962A8F7-3D42-BAC7-2BA4-6EA7857636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2838" y="574366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1" name="円/楕円 1060">
              <a:extLst>
                <a:ext uri="{FF2B5EF4-FFF2-40B4-BE49-F238E27FC236}">
                  <a16:creationId xmlns:a16="http://schemas.microsoft.com/office/drawing/2014/main" id="{5E8F907A-98C9-87DC-87DD-F1559C654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25812" y="5748271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2" name="円/楕円 1061">
              <a:extLst>
                <a:ext uri="{FF2B5EF4-FFF2-40B4-BE49-F238E27FC236}">
                  <a16:creationId xmlns:a16="http://schemas.microsoft.com/office/drawing/2014/main" id="{38666A36-BF32-C637-8026-71F8144DE1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63179" y="575162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3" name="円/楕円 1062">
              <a:extLst>
                <a:ext uri="{FF2B5EF4-FFF2-40B4-BE49-F238E27FC236}">
                  <a16:creationId xmlns:a16="http://schemas.microsoft.com/office/drawing/2014/main" id="{F7D90D64-D7B6-4262-2A6B-AA51550A5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6333" y="574796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4" name="円/楕円 1063">
              <a:extLst>
                <a:ext uri="{FF2B5EF4-FFF2-40B4-BE49-F238E27FC236}">
                  <a16:creationId xmlns:a16="http://schemas.microsoft.com/office/drawing/2014/main" id="{43A2684C-39E7-4113-6E40-88B1DC4132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66719" y="574796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5" name="円/楕円 1064">
              <a:extLst>
                <a:ext uri="{FF2B5EF4-FFF2-40B4-BE49-F238E27FC236}">
                  <a16:creationId xmlns:a16="http://schemas.microsoft.com/office/drawing/2014/main" id="{A5FD9CCA-2966-C30D-0495-E250263F0A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03882" y="574992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6" name="円/楕円 1065">
              <a:extLst>
                <a:ext uri="{FF2B5EF4-FFF2-40B4-BE49-F238E27FC236}">
                  <a16:creationId xmlns:a16="http://schemas.microsoft.com/office/drawing/2014/main" id="{0AE1C38E-585A-CB77-DCD5-5FD6AC99A1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20099" y="575057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67" name="直線コネクタ 1066">
              <a:extLst>
                <a:ext uri="{FF2B5EF4-FFF2-40B4-BE49-F238E27FC236}">
                  <a16:creationId xmlns:a16="http://schemas.microsoft.com/office/drawing/2014/main" id="{70F413A3-06FA-86AF-F9A0-5F43837C6BC3}"/>
                </a:ext>
              </a:extLst>
            </p:cNvPr>
            <p:cNvCxnSpPr>
              <a:cxnSpLocks/>
            </p:cNvCxnSpPr>
            <p:nvPr/>
          </p:nvCxnSpPr>
          <p:spPr>
            <a:xfrm>
              <a:off x="5469839" y="5798197"/>
              <a:ext cx="405067" cy="1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円/楕円 1067">
              <a:extLst>
                <a:ext uri="{FF2B5EF4-FFF2-40B4-BE49-F238E27FC236}">
                  <a16:creationId xmlns:a16="http://schemas.microsoft.com/office/drawing/2014/main" id="{2546819C-3476-4312-3490-C9B8FB75E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0038" y="575057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76" name="グラフィックス 1075" descr="ライト: オン 単色塗りつぶし">
              <a:extLst>
                <a:ext uri="{FF2B5EF4-FFF2-40B4-BE49-F238E27FC236}">
                  <a16:creationId xmlns:a16="http://schemas.microsoft.com/office/drawing/2014/main" id="{BF9CD34B-5284-2D51-720F-3158AB87E6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71112" y="4532026"/>
              <a:ext cx="350754" cy="350754"/>
            </a:xfrm>
            <a:prstGeom prst="rect">
              <a:avLst/>
            </a:prstGeom>
          </p:spPr>
        </p:pic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9593DC-546D-F7D0-2092-400E8DDF0F30}"/>
              </a:ext>
            </a:extLst>
          </p:cNvPr>
          <p:cNvSpPr txBox="1"/>
          <p:nvPr/>
        </p:nvSpPr>
        <p:spPr>
          <a:xfrm>
            <a:off x="9044153" y="3480418"/>
            <a:ext cx="29288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Acquisition Function Design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A7312EDB-466F-6DC5-763C-46EF1DECC9A2}"/>
              </a:ext>
            </a:extLst>
          </p:cNvPr>
          <p:cNvSpPr/>
          <p:nvPr/>
        </p:nvSpPr>
        <p:spPr>
          <a:xfrm>
            <a:off x="5341751" y="3481456"/>
            <a:ext cx="2353644" cy="1866624"/>
          </a:xfrm>
          <a:prstGeom prst="roundRect">
            <a:avLst>
              <a:gd name="adj" fmla="val 10040"/>
            </a:avLst>
          </a:prstGeom>
          <a:solidFill>
            <a:srgbClr val="E5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77" name="図 1076">
            <a:extLst>
              <a:ext uri="{FF2B5EF4-FFF2-40B4-BE49-F238E27FC236}">
                <a16:creationId xmlns:a16="http://schemas.microsoft.com/office/drawing/2014/main" id="{91338962-8046-F2BE-513E-56F5A409DD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944" t="15305" r="6813" b="11298"/>
          <a:stretch>
            <a:fillRect/>
          </a:stretch>
        </p:blipFill>
        <p:spPr>
          <a:xfrm>
            <a:off x="5777682" y="4131230"/>
            <a:ext cx="1370137" cy="1166070"/>
          </a:xfrm>
          <a:prstGeom prst="rect">
            <a:avLst/>
          </a:prstGeom>
        </p:spPr>
      </p:pic>
      <p:sp>
        <p:nvSpPr>
          <p:cNvPr id="10" name="片側の 2 つの角を丸めた四角形 9">
            <a:extLst>
              <a:ext uri="{FF2B5EF4-FFF2-40B4-BE49-F238E27FC236}">
                <a16:creationId xmlns:a16="http://schemas.microsoft.com/office/drawing/2014/main" id="{72EAED61-6CA3-9C40-B909-BBEDB8353EC2}"/>
              </a:ext>
            </a:extLst>
          </p:cNvPr>
          <p:cNvSpPr/>
          <p:nvPr/>
        </p:nvSpPr>
        <p:spPr>
          <a:xfrm>
            <a:off x="5341752" y="3472029"/>
            <a:ext cx="2353644" cy="369332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426D52-8E73-7052-F613-203B9D3B3372}"/>
              </a:ext>
            </a:extLst>
          </p:cNvPr>
          <p:cNvSpPr txBox="1"/>
          <p:nvPr/>
        </p:nvSpPr>
        <p:spPr>
          <a:xfrm>
            <a:off x="5341750" y="3487904"/>
            <a:ext cx="235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Additional Sampling</a:t>
            </a:r>
          </a:p>
        </p:txBody>
      </p:sp>
      <p:pic>
        <p:nvPicPr>
          <p:cNvPr id="1079" name="グラフィックス 1078" descr="虫眼鏡で見た虫 単色塗りつぶし">
            <a:extLst>
              <a:ext uri="{FF2B5EF4-FFF2-40B4-BE49-F238E27FC236}">
                <a16:creationId xmlns:a16="http://schemas.microsoft.com/office/drawing/2014/main" id="{A6F7C5E4-8154-9E2A-6623-6A659D85F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5072" y="4323476"/>
            <a:ext cx="337680" cy="337680"/>
          </a:xfrm>
          <a:prstGeom prst="rect">
            <a:avLst/>
          </a:prstGeom>
        </p:spPr>
      </p:pic>
      <p:sp>
        <p:nvSpPr>
          <p:cNvPr id="1080" name="円/楕円 1079">
            <a:extLst>
              <a:ext uri="{FF2B5EF4-FFF2-40B4-BE49-F238E27FC236}">
                <a16:creationId xmlns:a16="http://schemas.microsoft.com/office/drawing/2014/main" id="{F8CD7539-21A5-8504-2921-395D2C53CE14}"/>
              </a:ext>
            </a:extLst>
          </p:cNvPr>
          <p:cNvSpPr>
            <a:spLocks noChangeAspect="1"/>
          </p:cNvSpPr>
          <p:nvPr/>
        </p:nvSpPr>
        <p:spPr>
          <a:xfrm>
            <a:off x="6726268" y="4390417"/>
            <a:ext cx="142875" cy="142875"/>
          </a:xfrm>
          <a:prstGeom prst="ellipse">
            <a:avLst/>
          </a:prstGeom>
          <a:solidFill>
            <a:srgbClr val="B8D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正方形/長方形 1080">
            <a:extLst>
              <a:ext uri="{FF2B5EF4-FFF2-40B4-BE49-F238E27FC236}">
                <a16:creationId xmlns:a16="http://schemas.microsoft.com/office/drawing/2014/main" id="{39524C61-5773-2AD5-B891-C7616945C62F}"/>
              </a:ext>
            </a:extLst>
          </p:cNvPr>
          <p:cNvSpPr>
            <a:spLocks noChangeAspect="1"/>
          </p:cNvSpPr>
          <p:nvPr/>
        </p:nvSpPr>
        <p:spPr>
          <a:xfrm rot="18889017">
            <a:off x="6777828" y="4434533"/>
            <a:ext cx="45719" cy="45719"/>
          </a:xfrm>
          <a:prstGeom prst="rect">
            <a:avLst/>
          </a:prstGeom>
          <a:solidFill>
            <a:srgbClr val="FF660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C49C867-4487-E945-06F2-CEAD3FBFEF1B}"/>
              </a:ext>
            </a:extLst>
          </p:cNvPr>
          <p:cNvSpPr/>
          <p:nvPr/>
        </p:nvSpPr>
        <p:spPr>
          <a:xfrm rot="21276273">
            <a:off x="6264188" y="1371507"/>
            <a:ext cx="152762" cy="1174862"/>
          </a:xfrm>
          <a:prstGeom prst="rect">
            <a:avLst/>
          </a:prstGeom>
          <a:solidFill>
            <a:srgbClr val="E5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848B79-7645-983A-91E3-FD22CC0759EA}"/>
              </a:ext>
            </a:extLst>
          </p:cNvPr>
          <p:cNvSpPr/>
          <p:nvPr/>
        </p:nvSpPr>
        <p:spPr>
          <a:xfrm rot="315529">
            <a:off x="4840237" y="1371390"/>
            <a:ext cx="152762" cy="1202921"/>
          </a:xfrm>
          <a:prstGeom prst="rect">
            <a:avLst/>
          </a:prstGeom>
          <a:solidFill>
            <a:srgbClr val="E5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17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