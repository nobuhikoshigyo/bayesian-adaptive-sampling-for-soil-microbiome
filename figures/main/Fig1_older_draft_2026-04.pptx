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470293-47D4-3C49-B49F-9E79EE8DA0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86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69E22C9-2E35-549F-60E3-1B975820CFDC}"/>
              </a:ext>
            </a:extLst>
          </p:cNvPr>
          <p:cNvSpPr/>
          <p:nvPr/>
        </p:nvSpPr>
        <p:spPr>
          <a:xfrm>
            <a:off x="4304889" y="116115"/>
            <a:ext cx="7712940" cy="6561696"/>
          </a:xfrm>
          <a:prstGeom prst="roundRect">
            <a:avLst>
              <a:gd name="adj" fmla="val 280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668B573-2CAE-6195-1D97-268701B89D43}"/>
              </a:ext>
            </a:extLst>
          </p:cNvPr>
          <p:cNvSpPr/>
          <p:nvPr/>
        </p:nvSpPr>
        <p:spPr>
          <a:xfrm>
            <a:off x="174173" y="116115"/>
            <a:ext cx="4067216" cy="6561696"/>
          </a:xfrm>
          <a:prstGeom prst="roundRect">
            <a:avLst>
              <a:gd name="adj" fmla="val 328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AD837A-50F6-8722-E4F6-60C971BBFF02}"/>
              </a:ext>
            </a:extLst>
          </p:cNvPr>
          <p:cNvSpPr txBox="1"/>
          <p:nvPr/>
        </p:nvSpPr>
        <p:spPr>
          <a:xfrm>
            <a:off x="174173" y="244265"/>
            <a:ext cx="5036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Both"/>
            </a:pPr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Traditional Sampling</a:t>
            </a:r>
          </a:p>
          <a:p>
            <a:pPr marL="444500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(e.g., Grid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sampling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8D4A31-0593-7CCE-E941-CB4DEB044E49}"/>
              </a:ext>
            </a:extLst>
          </p:cNvPr>
          <p:cNvSpPr txBox="1"/>
          <p:nvPr/>
        </p:nvSpPr>
        <p:spPr>
          <a:xfrm>
            <a:off x="4334958" y="238386"/>
            <a:ext cx="7638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(B) Bayesian Adaptive Sampling (BAS) Framework</a:t>
            </a:r>
            <a:endParaRPr kumimoji="1" lang="ja-JP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EF6F72D6-D2C9-7B78-E89B-D75026174892}"/>
              </a:ext>
            </a:extLst>
          </p:cNvPr>
          <p:cNvSpPr/>
          <p:nvPr/>
        </p:nvSpPr>
        <p:spPr>
          <a:xfrm>
            <a:off x="1615116" y="3969378"/>
            <a:ext cx="1077286" cy="798512"/>
          </a:xfrm>
          <a:prstGeom prst="downArrow">
            <a:avLst/>
          </a:prstGeom>
          <a:gradFill flip="none" rotWithShape="1">
            <a:gsLst>
              <a:gs pos="0">
                <a:srgbClr val="E8E8E8"/>
              </a:gs>
              <a:gs pos="79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C40CDB16-4E1B-AA40-CF43-4847566EA633}"/>
              </a:ext>
            </a:extLst>
          </p:cNvPr>
          <p:cNvGrpSpPr>
            <a:grpSpLocks noChangeAspect="1"/>
          </p:cNvGrpSpPr>
          <p:nvPr/>
        </p:nvGrpSpPr>
        <p:grpSpPr>
          <a:xfrm>
            <a:off x="336426" y="1029900"/>
            <a:ext cx="3685041" cy="2896023"/>
            <a:chOff x="394569" y="662028"/>
            <a:chExt cx="4598674" cy="3614035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7E702BF0-7B68-9EFA-E652-C79340DE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92" t="14076" r="7623" b="14313"/>
            <a:stretch>
              <a:fillRect/>
            </a:stretch>
          </p:blipFill>
          <p:spPr>
            <a:xfrm>
              <a:off x="595281" y="717551"/>
              <a:ext cx="4197648" cy="3549650"/>
            </a:xfrm>
            <a:prstGeom prst="rect">
              <a:avLst/>
            </a:prstGeom>
          </p:spPr>
        </p:pic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103E46F-CF61-1269-755F-D449FDAC29FA}"/>
                </a:ext>
              </a:extLst>
            </p:cNvPr>
            <p:cNvSpPr/>
            <p:nvPr/>
          </p:nvSpPr>
          <p:spPr>
            <a:xfrm rot="321015">
              <a:off x="394569" y="680211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FC93B1B-A192-4181-307A-27348575BA90}"/>
                </a:ext>
              </a:extLst>
            </p:cNvPr>
            <p:cNvSpPr/>
            <p:nvPr/>
          </p:nvSpPr>
          <p:spPr>
            <a:xfrm rot="21275754">
              <a:off x="4618657" y="662028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38A5185-FFDA-F5F8-EB2F-DE9A37354AAE}"/>
              </a:ext>
            </a:extLst>
          </p:cNvPr>
          <p:cNvSpPr txBox="1"/>
          <p:nvPr/>
        </p:nvSpPr>
        <p:spPr>
          <a:xfrm>
            <a:off x="2517251" y="3969378"/>
            <a:ext cx="1726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Resource-Intensive</a:t>
            </a:r>
          </a:p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7CB62E9-72B8-CE5B-45A6-ADAF85ED0183}"/>
              </a:ext>
            </a:extLst>
          </p:cNvPr>
          <p:cNvSpPr txBox="1"/>
          <p:nvPr/>
        </p:nvSpPr>
        <p:spPr>
          <a:xfrm>
            <a:off x="1342973" y="4882780"/>
            <a:ext cx="1613158" cy="408623"/>
          </a:xfrm>
          <a:prstGeom prst="roundRect">
            <a:avLst>
              <a:gd name="adj" fmla="val 2699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角丸四角形 79">
            <a:extLst>
              <a:ext uri="{FF2B5EF4-FFF2-40B4-BE49-F238E27FC236}">
                <a16:creationId xmlns:a16="http://schemas.microsoft.com/office/drawing/2014/main" id="{46E6D825-6B2E-B989-069E-F9F7677F785E}"/>
              </a:ext>
            </a:extLst>
          </p:cNvPr>
          <p:cNvSpPr/>
          <p:nvPr/>
        </p:nvSpPr>
        <p:spPr>
          <a:xfrm>
            <a:off x="4589718" y="750571"/>
            <a:ext cx="2072187" cy="1866624"/>
          </a:xfrm>
          <a:prstGeom prst="roundRect">
            <a:avLst>
              <a:gd name="adj" fmla="val 12421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>
            <a:extLst>
              <a:ext uri="{FF2B5EF4-FFF2-40B4-BE49-F238E27FC236}">
                <a16:creationId xmlns:a16="http://schemas.microsoft.com/office/drawing/2014/main" id="{0A389958-03F4-7662-98FF-F5F546BFF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77" t="14154" r="7765" b="14051"/>
          <a:stretch>
            <a:fillRect/>
          </a:stretch>
        </p:blipFill>
        <p:spPr>
          <a:xfrm>
            <a:off x="4932259" y="1397706"/>
            <a:ext cx="1387099" cy="1174955"/>
          </a:xfrm>
          <a:prstGeom prst="rect">
            <a:avLst/>
          </a:prstGeom>
        </p:spPr>
      </p:pic>
      <p:pic>
        <p:nvPicPr>
          <p:cNvPr id="81" name="図 80">
            <a:extLst>
              <a:ext uri="{FF2B5EF4-FFF2-40B4-BE49-F238E27FC236}">
                <a16:creationId xmlns:a16="http://schemas.microsoft.com/office/drawing/2014/main" id="{8539EF2F-8F2F-0B9D-30CA-892132F457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1" t="18482" r="15799" b="15230"/>
          <a:stretch>
            <a:fillRect/>
          </a:stretch>
        </p:blipFill>
        <p:spPr>
          <a:xfrm>
            <a:off x="7742027" y="1451125"/>
            <a:ext cx="1366294" cy="1166070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72692A71-7C19-8193-2FDD-AF0311C978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81" t="19166" r="17361" b="15897"/>
          <a:stretch>
            <a:fillRect/>
          </a:stretch>
        </p:blipFill>
        <p:spPr>
          <a:xfrm>
            <a:off x="9324572" y="1451126"/>
            <a:ext cx="1366294" cy="1164976"/>
          </a:xfrm>
          <a:prstGeom prst="rect">
            <a:avLst/>
          </a:prstGeom>
        </p:spPr>
      </p:pic>
      <p:sp>
        <p:nvSpPr>
          <p:cNvPr id="84" name="片側の 2 つの角を丸めた四角形 83">
            <a:extLst>
              <a:ext uri="{FF2B5EF4-FFF2-40B4-BE49-F238E27FC236}">
                <a16:creationId xmlns:a16="http://schemas.microsoft.com/office/drawing/2014/main" id="{D301D0D9-F466-51D5-358F-7F8E787E845D}"/>
              </a:ext>
            </a:extLst>
          </p:cNvPr>
          <p:cNvSpPr/>
          <p:nvPr/>
        </p:nvSpPr>
        <p:spPr>
          <a:xfrm>
            <a:off x="4589717" y="750571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2B64137-48CB-2FE2-0F38-0A0153E02049}"/>
              </a:ext>
            </a:extLst>
          </p:cNvPr>
          <p:cNvSpPr txBox="1"/>
          <p:nvPr/>
        </p:nvSpPr>
        <p:spPr>
          <a:xfrm>
            <a:off x="4656228" y="774767"/>
            <a:ext cx="1802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Initial Sampling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2E95BDD-6D62-A2BE-49DE-9991EF803E4C}"/>
              </a:ext>
            </a:extLst>
          </p:cNvPr>
          <p:cNvSpPr txBox="1"/>
          <p:nvPr/>
        </p:nvSpPr>
        <p:spPr>
          <a:xfrm>
            <a:off x="4589716" y="1098814"/>
            <a:ext cx="2072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Few points &amp; Priors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片側の 2 つの角を丸めた四角形 87">
            <a:extLst>
              <a:ext uri="{FF2B5EF4-FFF2-40B4-BE49-F238E27FC236}">
                <a16:creationId xmlns:a16="http://schemas.microsoft.com/office/drawing/2014/main" id="{474D90E9-F25C-3C6D-6454-12F41A50397A}"/>
              </a:ext>
            </a:extLst>
          </p:cNvPr>
          <p:cNvSpPr/>
          <p:nvPr/>
        </p:nvSpPr>
        <p:spPr>
          <a:xfrm>
            <a:off x="8764743" y="726358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54F812-C539-E9FB-2118-EF746ACC12A9}"/>
              </a:ext>
            </a:extLst>
          </p:cNvPr>
          <p:cNvSpPr txBox="1"/>
          <p:nvPr/>
        </p:nvSpPr>
        <p:spPr>
          <a:xfrm>
            <a:off x="8899789" y="741747"/>
            <a:ext cx="1927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Spatial Modeling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C950C33B-B7F2-76A3-7F64-30C3A84C867F}"/>
              </a:ext>
            </a:extLst>
          </p:cNvPr>
          <p:cNvSpPr txBox="1"/>
          <p:nvPr/>
        </p:nvSpPr>
        <p:spPr>
          <a:xfrm>
            <a:off x="498751" y="5644201"/>
            <a:ext cx="33100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Blind Exploration</a:t>
            </a:r>
          </a:p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Often inefficient, misses hotspots, </a:t>
            </a:r>
            <a:b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and high cost &amp; effort</a:t>
            </a:r>
            <a:endParaRPr kumimoji="1" lang="ja-JP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42" name="グループ化 1041">
            <a:extLst>
              <a:ext uri="{FF2B5EF4-FFF2-40B4-BE49-F238E27FC236}">
                <a16:creationId xmlns:a16="http://schemas.microsoft.com/office/drawing/2014/main" id="{A9141DCA-7BB0-8626-62E8-524DD356A6DF}"/>
              </a:ext>
            </a:extLst>
          </p:cNvPr>
          <p:cNvGrpSpPr/>
          <p:nvPr/>
        </p:nvGrpSpPr>
        <p:grpSpPr>
          <a:xfrm>
            <a:off x="146030" y="4527866"/>
            <a:ext cx="939737" cy="1069863"/>
            <a:chOff x="405476" y="4776251"/>
            <a:chExt cx="939737" cy="1069863"/>
          </a:xfrm>
        </p:grpSpPr>
        <p:sp>
          <p:nvSpPr>
            <p:cNvPr id="98" name="円/楕円 97">
              <a:extLst>
                <a:ext uri="{FF2B5EF4-FFF2-40B4-BE49-F238E27FC236}">
                  <a16:creationId xmlns:a16="http://schemas.microsoft.com/office/drawing/2014/main" id="{EEA9C59E-6433-8E47-43B0-58D1E02018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350" y="5007811"/>
              <a:ext cx="249558" cy="2495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角丸四角形 99">
              <a:extLst>
                <a:ext uri="{FF2B5EF4-FFF2-40B4-BE49-F238E27FC236}">
                  <a16:creationId xmlns:a16="http://schemas.microsoft.com/office/drawing/2014/main" id="{60B6B310-CF91-0037-2EDF-395E0B75ECBC}"/>
                </a:ext>
              </a:extLst>
            </p:cNvPr>
            <p:cNvSpPr/>
            <p:nvPr/>
          </p:nvSpPr>
          <p:spPr>
            <a:xfrm rot="3177713">
              <a:off x="923006" y="5291309"/>
              <a:ext cx="442071" cy="17419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角丸四角形 100">
              <a:extLst>
                <a:ext uri="{FF2B5EF4-FFF2-40B4-BE49-F238E27FC236}">
                  <a16:creationId xmlns:a16="http://schemas.microsoft.com/office/drawing/2014/main" id="{A5FABB2F-1918-5715-BD2D-0A2A10FA87BE}"/>
                </a:ext>
              </a:extLst>
            </p:cNvPr>
            <p:cNvSpPr/>
            <p:nvPr/>
          </p:nvSpPr>
          <p:spPr>
            <a:xfrm>
              <a:off x="974860" y="5497252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角丸四角形 101">
              <a:extLst>
                <a:ext uri="{FF2B5EF4-FFF2-40B4-BE49-F238E27FC236}">
                  <a16:creationId xmlns:a16="http://schemas.microsoft.com/office/drawing/2014/main" id="{E6BFFB19-3D25-6827-7C64-13971121AAAD}"/>
                </a:ext>
              </a:extLst>
            </p:cNvPr>
            <p:cNvSpPr/>
            <p:nvPr/>
          </p:nvSpPr>
          <p:spPr>
            <a:xfrm rot="16200000">
              <a:off x="860586" y="5627196"/>
              <a:ext cx="328374" cy="10946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角丸四角形 103">
              <a:extLst>
                <a:ext uri="{FF2B5EF4-FFF2-40B4-BE49-F238E27FC236}">
                  <a16:creationId xmlns:a16="http://schemas.microsoft.com/office/drawing/2014/main" id="{973003E6-AEE1-3DFB-A035-F31F77342E64}"/>
                </a:ext>
              </a:extLst>
            </p:cNvPr>
            <p:cNvSpPr/>
            <p:nvPr/>
          </p:nvSpPr>
          <p:spPr>
            <a:xfrm rot="18565487">
              <a:off x="579585" y="5520846"/>
              <a:ext cx="466195" cy="45719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フローチャート: 論理積ゲート 106">
              <a:extLst>
                <a:ext uri="{FF2B5EF4-FFF2-40B4-BE49-F238E27FC236}">
                  <a16:creationId xmlns:a16="http://schemas.microsoft.com/office/drawing/2014/main" id="{BF09A5B7-C828-3ECB-FC53-7BCFD78176AB}"/>
                </a:ext>
              </a:extLst>
            </p:cNvPr>
            <p:cNvSpPr/>
            <p:nvPr/>
          </p:nvSpPr>
          <p:spPr>
            <a:xfrm rot="7901878">
              <a:off x="571582" y="5655915"/>
              <a:ext cx="158810" cy="149882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アーチ 107">
              <a:extLst>
                <a:ext uri="{FF2B5EF4-FFF2-40B4-BE49-F238E27FC236}">
                  <a16:creationId xmlns:a16="http://schemas.microsoft.com/office/drawing/2014/main" id="{EFD38467-01EF-E4D6-2615-CAE8E9544C93}"/>
                </a:ext>
              </a:extLst>
            </p:cNvPr>
            <p:cNvSpPr>
              <a:spLocks noChangeAspect="1"/>
            </p:cNvSpPr>
            <p:nvPr/>
          </p:nvSpPr>
          <p:spPr>
            <a:xfrm rot="5830448">
              <a:off x="405476" y="4776251"/>
              <a:ext cx="777421" cy="777421"/>
            </a:xfrm>
            <a:prstGeom prst="blockArc">
              <a:avLst>
                <a:gd name="adj1" fmla="val 17691001"/>
                <a:gd name="adj2" fmla="val 20986681"/>
                <a:gd name="adj3" fmla="val 9431"/>
              </a:avLst>
            </a:prstGeom>
            <a:solidFill>
              <a:schemeClr val="tx1"/>
            </a:solidFill>
            <a:ln>
              <a:solidFill>
                <a:srgbClr val="E8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角丸四角形 108">
              <a:extLst>
                <a:ext uri="{FF2B5EF4-FFF2-40B4-BE49-F238E27FC236}">
                  <a16:creationId xmlns:a16="http://schemas.microsoft.com/office/drawing/2014/main" id="{147325B3-256E-095A-B09F-607BF0DB5402}"/>
                </a:ext>
              </a:extLst>
            </p:cNvPr>
            <p:cNvSpPr/>
            <p:nvPr/>
          </p:nvSpPr>
          <p:spPr>
            <a:xfrm rot="3521820">
              <a:off x="1140139" y="5617088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円/楕円 109">
              <a:extLst>
                <a:ext uri="{FF2B5EF4-FFF2-40B4-BE49-F238E27FC236}">
                  <a16:creationId xmlns:a16="http://schemas.microsoft.com/office/drawing/2014/main" id="{4AE03779-CCBF-D319-6F15-E4CBB3CB07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803" y="5750088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円/楕円 110">
              <a:extLst>
                <a:ext uri="{FF2B5EF4-FFF2-40B4-BE49-F238E27FC236}">
                  <a16:creationId xmlns:a16="http://schemas.microsoft.com/office/drawing/2014/main" id="{0C9A4DE9-4DEF-2DD8-9A3B-BDC658BFAC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7" y="5764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>
              <a:extLst>
                <a:ext uri="{FF2B5EF4-FFF2-40B4-BE49-F238E27FC236}">
                  <a16:creationId xmlns:a16="http://schemas.microsoft.com/office/drawing/2014/main" id="{129EB15C-D636-0BF1-B176-202317B50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327" y="5777088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>
              <a:extLst>
                <a:ext uri="{FF2B5EF4-FFF2-40B4-BE49-F238E27FC236}">
                  <a16:creationId xmlns:a16="http://schemas.microsoft.com/office/drawing/2014/main" id="{6823A73B-EB6D-001B-C5BE-4A5AC581A4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6566" y="5791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円/楕円 113">
              <a:extLst>
                <a:ext uri="{FF2B5EF4-FFF2-40B4-BE49-F238E27FC236}">
                  <a16:creationId xmlns:a16="http://schemas.microsoft.com/office/drawing/2014/main" id="{47A3D8D1-A4BE-63E5-2F79-A13BD7770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541" y="577120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円/楕円 114">
              <a:extLst>
                <a:ext uri="{FF2B5EF4-FFF2-40B4-BE49-F238E27FC236}">
                  <a16:creationId xmlns:a16="http://schemas.microsoft.com/office/drawing/2014/main" id="{8AB35C42-99BD-010B-1E33-E3B2788B3A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906" y="579185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円/楕円 115">
              <a:extLst>
                <a:ext uri="{FF2B5EF4-FFF2-40B4-BE49-F238E27FC236}">
                  <a16:creationId xmlns:a16="http://schemas.microsoft.com/office/drawing/2014/main" id="{42C3915F-C161-283A-C96D-B3DA2E2B28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320" y="5764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円/楕円 116">
              <a:extLst>
                <a:ext uri="{FF2B5EF4-FFF2-40B4-BE49-F238E27FC236}">
                  <a16:creationId xmlns:a16="http://schemas.microsoft.com/office/drawing/2014/main" id="{13877C3F-6006-9F44-5815-061691A5B0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507" y="578138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円/楕円 117">
              <a:extLst>
                <a:ext uri="{FF2B5EF4-FFF2-40B4-BE49-F238E27FC236}">
                  <a16:creationId xmlns:a16="http://schemas.microsoft.com/office/drawing/2014/main" id="{844AACEF-3AA0-AE68-4B23-F31BB6B652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061" y="578138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>
              <a:extLst>
                <a:ext uri="{FF2B5EF4-FFF2-40B4-BE49-F238E27FC236}">
                  <a16:creationId xmlns:a16="http://schemas.microsoft.com/office/drawing/2014/main" id="{F50EF0CE-6351-21EE-BF96-3D8C4C80D1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4035" y="5785996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円/楕円 120">
              <a:extLst>
                <a:ext uri="{FF2B5EF4-FFF2-40B4-BE49-F238E27FC236}">
                  <a16:creationId xmlns:a16="http://schemas.microsoft.com/office/drawing/2014/main" id="{83D96ED3-3433-948B-E5FB-F9AB8A7EA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1402" y="578934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円/楕円 121">
              <a:extLst>
                <a:ext uri="{FF2B5EF4-FFF2-40B4-BE49-F238E27FC236}">
                  <a16:creationId xmlns:a16="http://schemas.microsoft.com/office/drawing/2014/main" id="{D571B1CD-4D36-0CE1-C62C-DF27350D35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4556" y="578569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円/楕円 122">
              <a:extLst>
                <a:ext uri="{FF2B5EF4-FFF2-40B4-BE49-F238E27FC236}">
                  <a16:creationId xmlns:a16="http://schemas.microsoft.com/office/drawing/2014/main" id="{A57D15E3-21D3-B029-8D0E-A4879B0C8E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4942" y="578569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円/楕円 123">
              <a:extLst>
                <a:ext uri="{FF2B5EF4-FFF2-40B4-BE49-F238E27FC236}">
                  <a16:creationId xmlns:a16="http://schemas.microsoft.com/office/drawing/2014/main" id="{6D6498CF-E784-29D9-C1E7-B5DDBF974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105" y="578764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円/楕円 124">
              <a:extLst>
                <a:ext uri="{FF2B5EF4-FFF2-40B4-BE49-F238E27FC236}">
                  <a16:creationId xmlns:a16="http://schemas.microsoft.com/office/drawing/2014/main" id="{8FE38876-2832-9952-BD35-70E086CE10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8322" y="578830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4D4DB744-0C2F-C800-A88C-F8E8F038036E}"/>
                </a:ext>
              </a:extLst>
            </p:cNvPr>
            <p:cNvCxnSpPr>
              <a:cxnSpLocks/>
            </p:cNvCxnSpPr>
            <p:nvPr/>
          </p:nvCxnSpPr>
          <p:spPr>
            <a:xfrm>
              <a:off x="488062" y="5835922"/>
              <a:ext cx="405067" cy="1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0" name="円/楕円 1029">
              <a:extLst>
                <a:ext uri="{FF2B5EF4-FFF2-40B4-BE49-F238E27FC236}">
                  <a16:creationId xmlns:a16="http://schemas.microsoft.com/office/drawing/2014/main" id="{B82F3745-046A-3075-5D8F-18C0BE85B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261" y="578830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2" name="円/楕円 1031">
              <a:extLst>
                <a:ext uri="{FF2B5EF4-FFF2-40B4-BE49-F238E27FC236}">
                  <a16:creationId xmlns:a16="http://schemas.microsoft.com/office/drawing/2014/main" id="{BAC03564-6322-E5CA-5F4B-F5D73C272202}"/>
                </a:ext>
              </a:extLst>
            </p:cNvPr>
            <p:cNvSpPr>
              <a:spLocks noChangeAspect="1"/>
            </p:cNvSpPr>
            <p:nvPr/>
          </p:nvSpPr>
          <p:spPr>
            <a:xfrm rot="19580592">
              <a:off x="696547" y="5222657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3" name="円/楕円 1031">
              <a:extLst>
                <a:ext uri="{FF2B5EF4-FFF2-40B4-BE49-F238E27FC236}">
                  <a16:creationId xmlns:a16="http://schemas.microsoft.com/office/drawing/2014/main" id="{03C16B18-44A2-60C7-007D-06B851BE50D7}"/>
                </a:ext>
              </a:extLst>
            </p:cNvPr>
            <p:cNvSpPr>
              <a:spLocks noChangeAspect="1"/>
            </p:cNvSpPr>
            <p:nvPr/>
          </p:nvSpPr>
          <p:spPr>
            <a:xfrm rot="16903238">
              <a:off x="747139" y="5279114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4" name="円/楕円 1031">
              <a:extLst>
                <a:ext uri="{FF2B5EF4-FFF2-40B4-BE49-F238E27FC236}">
                  <a16:creationId xmlns:a16="http://schemas.microsoft.com/office/drawing/2014/main" id="{8D072533-EAF5-E79A-E3D6-1B88CDCC6303}"/>
                </a:ext>
              </a:extLst>
            </p:cNvPr>
            <p:cNvSpPr>
              <a:spLocks noChangeAspect="1"/>
            </p:cNvSpPr>
            <p:nvPr/>
          </p:nvSpPr>
          <p:spPr>
            <a:xfrm rot="19006113">
              <a:off x="669521" y="5302552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5" name="円弧 1034">
              <a:extLst>
                <a:ext uri="{FF2B5EF4-FFF2-40B4-BE49-F238E27FC236}">
                  <a16:creationId xmlns:a16="http://schemas.microsoft.com/office/drawing/2014/main" id="{9240C7BC-3A3D-DE80-B061-A673539991B0}"/>
                </a:ext>
              </a:extLst>
            </p:cNvPr>
            <p:cNvSpPr/>
            <p:nvPr/>
          </p:nvSpPr>
          <p:spPr>
            <a:xfrm rot="4410489">
              <a:off x="899461" y="4846190"/>
              <a:ext cx="250009" cy="335445"/>
            </a:xfrm>
            <a:prstGeom prst="arc">
              <a:avLst>
                <a:gd name="adj1" fmla="val 18337701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6" name="円弧 1035">
              <a:extLst>
                <a:ext uri="{FF2B5EF4-FFF2-40B4-BE49-F238E27FC236}">
                  <a16:creationId xmlns:a16="http://schemas.microsoft.com/office/drawing/2014/main" id="{1384528E-675E-4A02-F67E-797E068E4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3105" y="5003180"/>
              <a:ext cx="108000" cy="108000"/>
            </a:xfrm>
            <a:prstGeom prst="arc">
              <a:avLst>
                <a:gd name="adj1" fmla="val 11581598"/>
                <a:gd name="adj2" fmla="val 1911209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7" name="円弧 1036">
              <a:extLst>
                <a:ext uri="{FF2B5EF4-FFF2-40B4-BE49-F238E27FC236}">
                  <a16:creationId xmlns:a16="http://schemas.microsoft.com/office/drawing/2014/main" id="{1177E2EE-D6AA-0422-64A2-0422D160D02D}"/>
                </a:ext>
              </a:extLst>
            </p:cNvPr>
            <p:cNvSpPr>
              <a:spLocks noChangeAspect="1"/>
            </p:cNvSpPr>
            <p:nvPr/>
          </p:nvSpPr>
          <p:spPr>
            <a:xfrm rot="7869078">
              <a:off x="1127030" y="5006305"/>
              <a:ext cx="108000" cy="108000"/>
            </a:xfrm>
            <a:prstGeom prst="arc">
              <a:avLst>
                <a:gd name="adj1" fmla="val 5859821"/>
                <a:gd name="adj2" fmla="val 1764934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39" name="グラフィックス 1038" descr="翼の付いたお金 単色塗りつぶし">
            <a:extLst>
              <a:ext uri="{FF2B5EF4-FFF2-40B4-BE49-F238E27FC236}">
                <a16:creationId xmlns:a16="http://schemas.microsoft.com/office/drawing/2014/main" id="{313E8E13-F03E-8B3D-E30C-F13392F59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6371" y="5103668"/>
            <a:ext cx="750024" cy="750024"/>
          </a:xfrm>
          <a:prstGeom prst="rect">
            <a:avLst/>
          </a:prstGeom>
        </p:spPr>
      </p:pic>
      <p:pic>
        <p:nvPicPr>
          <p:cNvPr id="1041" name="グラフィックス 1040" descr="コンピューター 単色塗りつぶし">
            <a:extLst>
              <a:ext uri="{FF2B5EF4-FFF2-40B4-BE49-F238E27FC236}">
                <a16:creationId xmlns:a16="http://schemas.microsoft.com/office/drawing/2014/main" id="{37B48C3F-8B6D-EF67-8766-8B5B34175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53181" y="743900"/>
            <a:ext cx="755771" cy="755771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D26AF3F-1464-E3D5-D11E-0C4ABA20AD69}"/>
              </a:ext>
            </a:extLst>
          </p:cNvPr>
          <p:cNvGrpSpPr/>
          <p:nvPr/>
        </p:nvGrpSpPr>
        <p:grpSpPr>
          <a:xfrm>
            <a:off x="4500520" y="4978748"/>
            <a:ext cx="939737" cy="1276363"/>
            <a:chOff x="5387253" y="4532026"/>
            <a:chExt cx="939737" cy="1276363"/>
          </a:xfrm>
        </p:grpSpPr>
        <p:sp>
          <p:nvSpPr>
            <p:cNvPr id="1044" name="円/楕円 1043">
              <a:extLst>
                <a:ext uri="{FF2B5EF4-FFF2-40B4-BE49-F238E27FC236}">
                  <a16:creationId xmlns:a16="http://schemas.microsoft.com/office/drawing/2014/main" id="{4818A777-67BC-848E-843D-C79B87EED7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3211" y="4901904"/>
              <a:ext cx="249558" cy="2495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5" name="角丸四角形 1044">
              <a:extLst>
                <a:ext uri="{FF2B5EF4-FFF2-40B4-BE49-F238E27FC236}">
                  <a16:creationId xmlns:a16="http://schemas.microsoft.com/office/drawing/2014/main" id="{2BCF8AAC-12D7-51F8-4CF8-B65F5DDD96EF}"/>
                </a:ext>
              </a:extLst>
            </p:cNvPr>
            <p:cNvSpPr/>
            <p:nvPr/>
          </p:nvSpPr>
          <p:spPr>
            <a:xfrm rot="3872528">
              <a:off x="5904783" y="5253584"/>
              <a:ext cx="442071" cy="17419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6" name="角丸四角形 1045">
              <a:extLst>
                <a:ext uri="{FF2B5EF4-FFF2-40B4-BE49-F238E27FC236}">
                  <a16:creationId xmlns:a16="http://schemas.microsoft.com/office/drawing/2014/main" id="{18A062EB-E2C2-8B1D-3B12-27C2355CE076}"/>
                </a:ext>
              </a:extLst>
            </p:cNvPr>
            <p:cNvSpPr/>
            <p:nvPr/>
          </p:nvSpPr>
          <p:spPr>
            <a:xfrm>
              <a:off x="5956637" y="5459527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7" name="角丸四角形 1046">
              <a:extLst>
                <a:ext uri="{FF2B5EF4-FFF2-40B4-BE49-F238E27FC236}">
                  <a16:creationId xmlns:a16="http://schemas.microsoft.com/office/drawing/2014/main" id="{0F5F0080-4B12-9CB0-C121-DBD26FA94723}"/>
                </a:ext>
              </a:extLst>
            </p:cNvPr>
            <p:cNvSpPr/>
            <p:nvPr/>
          </p:nvSpPr>
          <p:spPr>
            <a:xfrm rot="16200000">
              <a:off x="5842363" y="5589471"/>
              <a:ext cx="328374" cy="10946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8" name="角丸四角形 1047">
              <a:extLst>
                <a:ext uri="{FF2B5EF4-FFF2-40B4-BE49-F238E27FC236}">
                  <a16:creationId xmlns:a16="http://schemas.microsoft.com/office/drawing/2014/main" id="{6249D288-CA6C-4DBE-EBBB-F724D752B5C9}"/>
                </a:ext>
              </a:extLst>
            </p:cNvPr>
            <p:cNvSpPr/>
            <p:nvPr/>
          </p:nvSpPr>
          <p:spPr>
            <a:xfrm rot="18565487">
              <a:off x="5561362" y="5483121"/>
              <a:ext cx="466195" cy="45719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9" name="フローチャート: 論理積ゲート 1048">
              <a:extLst>
                <a:ext uri="{FF2B5EF4-FFF2-40B4-BE49-F238E27FC236}">
                  <a16:creationId xmlns:a16="http://schemas.microsoft.com/office/drawing/2014/main" id="{49B19A86-ECE0-9EEA-81C0-B86D145F0892}"/>
                </a:ext>
              </a:extLst>
            </p:cNvPr>
            <p:cNvSpPr/>
            <p:nvPr/>
          </p:nvSpPr>
          <p:spPr>
            <a:xfrm rot="7901878">
              <a:off x="5553359" y="5618190"/>
              <a:ext cx="158810" cy="149882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0" name="アーチ 1049">
              <a:extLst>
                <a:ext uri="{FF2B5EF4-FFF2-40B4-BE49-F238E27FC236}">
                  <a16:creationId xmlns:a16="http://schemas.microsoft.com/office/drawing/2014/main" id="{DD970E1A-DBD7-F91A-6E40-39557FD3D4C6}"/>
                </a:ext>
              </a:extLst>
            </p:cNvPr>
            <p:cNvSpPr>
              <a:spLocks noChangeAspect="1"/>
            </p:cNvSpPr>
            <p:nvPr/>
          </p:nvSpPr>
          <p:spPr>
            <a:xfrm rot="5830448">
              <a:off x="5387253" y="4738526"/>
              <a:ext cx="777421" cy="777421"/>
            </a:xfrm>
            <a:prstGeom prst="blockArc">
              <a:avLst>
                <a:gd name="adj1" fmla="val 17691001"/>
                <a:gd name="adj2" fmla="val 20986681"/>
                <a:gd name="adj3" fmla="val 9431"/>
              </a:avLst>
            </a:prstGeom>
            <a:solidFill>
              <a:schemeClr val="tx1"/>
            </a:solidFill>
            <a:ln>
              <a:solidFill>
                <a:srgbClr val="E8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51" name="角丸四角形 1050">
              <a:extLst>
                <a:ext uri="{FF2B5EF4-FFF2-40B4-BE49-F238E27FC236}">
                  <a16:creationId xmlns:a16="http://schemas.microsoft.com/office/drawing/2014/main" id="{8B8AC3C6-412E-5D44-E70D-DF078335A06E}"/>
                </a:ext>
              </a:extLst>
            </p:cNvPr>
            <p:cNvSpPr/>
            <p:nvPr/>
          </p:nvSpPr>
          <p:spPr>
            <a:xfrm rot="3521820">
              <a:off x="6121916" y="5579363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2" name="円/楕円 1051">
              <a:extLst>
                <a:ext uri="{FF2B5EF4-FFF2-40B4-BE49-F238E27FC236}">
                  <a16:creationId xmlns:a16="http://schemas.microsoft.com/office/drawing/2014/main" id="{FF7F50E8-ED3D-45B6-19AE-44552762B4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8580" y="5712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3" name="円/楕円 1052">
              <a:extLst>
                <a:ext uri="{FF2B5EF4-FFF2-40B4-BE49-F238E27FC236}">
                  <a16:creationId xmlns:a16="http://schemas.microsoft.com/office/drawing/2014/main" id="{05F33017-5ED8-D73E-B877-3CE9FFA679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4894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4" name="円/楕円 1053">
              <a:extLst>
                <a:ext uri="{FF2B5EF4-FFF2-40B4-BE49-F238E27FC236}">
                  <a16:creationId xmlns:a16="http://schemas.microsoft.com/office/drawing/2014/main" id="{42DC3349-B839-7CCC-E3D4-CBC52269FA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83104" y="5739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5" name="円/楕円 1054">
              <a:extLst>
                <a:ext uri="{FF2B5EF4-FFF2-40B4-BE49-F238E27FC236}">
                  <a16:creationId xmlns:a16="http://schemas.microsoft.com/office/drawing/2014/main" id="{EF677AC2-CADF-1A57-2124-5A36F82851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8343" y="5753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6" name="円/楕円 1055">
              <a:extLst>
                <a:ext uri="{FF2B5EF4-FFF2-40B4-BE49-F238E27FC236}">
                  <a16:creationId xmlns:a16="http://schemas.microsoft.com/office/drawing/2014/main" id="{7B3F8A21-F6AA-618A-002D-FA3D96FB22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1318" y="573348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7" name="円/楕円 1056">
              <a:extLst>
                <a:ext uri="{FF2B5EF4-FFF2-40B4-BE49-F238E27FC236}">
                  <a16:creationId xmlns:a16="http://schemas.microsoft.com/office/drawing/2014/main" id="{A9EC3FCC-24AC-15D2-083D-8C78A48BAE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2683" y="575413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8" name="円/楕円 1057">
              <a:extLst>
                <a:ext uri="{FF2B5EF4-FFF2-40B4-BE49-F238E27FC236}">
                  <a16:creationId xmlns:a16="http://schemas.microsoft.com/office/drawing/2014/main" id="{C9069207-29BC-420D-1090-6A570BA8C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11097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9" name="円/楕円 1058">
              <a:extLst>
                <a:ext uri="{FF2B5EF4-FFF2-40B4-BE49-F238E27FC236}">
                  <a16:creationId xmlns:a16="http://schemas.microsoft.com/office/drawing/2014/main" id="{6DF294CB-67B7-90F0-4CF5-A7994BB07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5284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0" name="円/楕円 1059">
              <a:extLst>
                <a:ext uri="{FF2B5EF4-FFF2-40B4-BE49-F238E27FC236}">
                  <a16:creationId xmlns:a16="http://schemas.microsoft.com/office/drawing/2014/main" id="{8962A8F7-3D42-BAC7-2BA4-6EA785763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2838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1" name="円/楕円 1060">
              <a:extLst>
                <a:ext uri="{FF2B5EF4-FFF2-40B4-BE49-F238E27FC236}">
                  <a16:creationId xmlns:a16="http://schemas.microsoft.com/office/drawing/2014/main" id="{5E8F907A-98C9-87DC-87DD-F1559C654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25812" y="5748271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2" name="円/楕円 1061">
              <a:extLst>
                <a:ext uri="{FF2B5EF4-FFF2-40B4-BE49-F238E27FC236}">
                  <a16:creationId xmlns:a16="http://schemas.microsoft.com/office/drawing/2014/main" id="{38666A36-BF32-C637-8026-71F8144DE1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63179" y="57516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3" name="円/楕円 1062">
              <a:extLst>
                <a:ext uri="{FF2B5EF4-FFF2-40B4-BE49-F238E27FC236}">
                  <a16:creationId xmlns:a16="http://schemas.microsoft.com/office/drawing/2014/main" id="{F7D90D64-D7B6-4262-2A6B-AA51550A5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6333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4" name="円/楕円 1063">
              <a:extLst>
                <a:ext uri="{FF2B5EF4-FFF2-40B4-BE49-F238E27FC236}">
                  <a16:creationId xmlns:a16="http://schemas.microsoft.com/office/drawing/2014/main" id="{43A2684C-39E7-4113-6E40-88B1DC4132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66719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5" name="円/楕円 1064">
              <a:extLst>
                <a:ext uri="{FF2B5EF4-FFF2-40B4-BE49-F238E27FC236}">
                  <a16:creationId xmlns:a16="http://schemas.microsoft.com/office/drawing/2014/main" id="{A5FD9CCA-2966-C30D-0495-E250263F0A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3882" y="57499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6" name="円/楕円 1065">
              <a:extLst>
                <a:ext uri="{FF2B5EF4-FFF2-40B4-BE49-F238E27FC236}">
                  <a16:creationId xmlns:a16="http://schemas.microsoft.com/office/drawing/2014/main" id="{0AE1C38E-585A-CB77-DCD5-5FD6AC99A1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20099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67" name="直線コネクタ 1066">
              <a:extLst>
                <a:ext uri="{FF2B5EF4-FFF2-40B4-BE49-F238E27FC236}">
                  <a16:creationId xmlns:a16="http://schemas.microsoft.com/office/drawing/2014/main" id="{70F413A3-06FA-86AF-F9A0-5F43837C6BC3}"/>
                </a:ext>
              </a:extLst>
            </p:cNvPr>
            <p:cNvCxnSpPr>
              <a:cxnSpLocks/>
            </p:cNvCxnSpPr>
            <p:nvPr/>
          </p:nvCxnSpPr>
          <p:spPr>
            <a:xfrm>
              <a:off x="5469839" y="5798197"/>
              <a:ext cx="405067" cy="1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円/楕円 1067">
              <a:extLst>
                <a:ext uri="{FF2B5EF4-FFF2-40B4-BE49-F238E27FC236}">
                  <a16:creationId xmlns:a16="http://schemas.microsoft.com/office/drawing/2014/main" id="{2546819C-3476-4312-3490-C9B8FB75E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0038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76" name="グラフィックス 1075" descr="ライト: オン 単色塗りつぶし">
              <a:extLst>
                <a:ext uri="{FF2B5EF4-FFF2-40B4-BE49-F238E27FC236}">
                  <a16:creationId xmlns:a16="http://schemas.microsoft.com/office/drawing/2014/main" id="{BF9CD34B-5284-2D51-720F-3158AB87E6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71112" y="4532026"/>
              <a:ext cx="350754" cy="350754"/>
            </a:xfrm>
            <a:prstGeom prst="rect">
              <a:avLst/>
            </a:prstGeom>
          </p:spPr>
        </p:pic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9593DC-546D-F7D0-2092-400E8DDF0F30}"/>
              </a:ext>
            </a:extLst>
          </p:cNvPr>
          <p:cNvSpPr txBox="1"/>
          <p:nvPr/>
        </p:nvSpPr>
        <p:spPr>
          <a:xfrm>
            <a:off x="9044153" y="3480418"/>
            <a:ext cx="2928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Acquisition Function Design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A7312EDB-466F-6DC5-763C-46EF1DECC9A2}"/>
              </a:ext>
            </a:extLst>
          </p:cNvPr>
          <p:cNvSpPr/>
          <p:nvPr/>
        </p:nvSpPr>
        <p:spPr>
          <a:xfrm>
            <a:off x="5341751" y="3481456"/>
            <a:ext cx="2353644" cy="1866624"/>
          </a:xfrm>
          <a:prstGeom prst="roundRect">
            <a:avLst>
              <a:gd name="adj" fmla="val 10040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77" name="図 1076">
            <a:extLst>
              <a:ext uri="{FF2B5EF4-FFF2-40B4-BE49-F238E27FC236}">
                <a16:creationId xmlns:a16="http://schemas.microsoft.com/office/drawing/2014/main" id="{91338962-8046-F2BE-513E-56F5A409DD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944" t="15305" r="6813" b="11298"/>
          <a:stretch>
            <a:fillRect/>
          </a:stretch>
        </p:blipFill>
        <p:spPr>
          <a:xfrm>
            <a:off x="5777682" y="4131230"/>
            <a:ext cx="1370137" cy="1166070"/>
          </a:xfrm>
          <a:prstGeom prst="rect">
            <a:avLst/>
          </a:prstGeom>
        </p:spPr>
      </p:pic>
      <p:sp>
        <p:nvSpPr>
          <p:cNvPr id="10" name="片側の 2 つの角を丸めた四角形 9">
            <a:extLst>
              <a:ext uri="{FF2B5EF4-FFF2-40B4-BE49-F238E27FC236}">
                <a16:creationId xmlns:a16="http://schemas.microsoft.com/office/drawing/2014/main" id="{72EAED61-6CA3-9C40-B909-BBEDB8353EC2}"/>
              </a:ext>
            </a:extLst>
          </p:cNvPr>
          <p:cNvSpPr/>
          <p:nvPr/>
        </p:nvSpPr>
        <p:spPr>
          <a:xfrm>
            <a:off x="5341752" y="3472029"/>
            <a:ext cx="2353644" cy="369332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426D52-8E73-7052-F613-203B9D3B3372}"/>
              </a:ext>
            </a:extLst>
          </p:cNvPr>
          <p:cNvSpPr txBox="1"/>
          <p:nvPr/>
        </p:nvSpPr>
        <p:spPr>
          <a:xfrm>
            <a:off x="5341750" y="3487904"/>
            <a:ext cx="235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Additional Sampling</a:t>
            </a:r>
          </a:p>
        </p:txBody>
      </p:sp>
      <p:pic>
        <p:nvPicPr>
          <p:cNvPr id="1079" name="グラフィックス 1078" descr="虫眼鏡で見た虫 単色塗りつぶし">
            <a:extLst>
              <a:ext uri="{FF2B5EF4-FFF2-40B4-BE49-F238E27FC236}">
                <a16:creationId xmlns:a16="http://schemas.microsoft.com/office/drawing/2014/main" id="{A6F7C5E4-8154-9E2A-6623-6A659D85F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5072" y="4323476"/>
            <a:ext cx="337680" cy="337680"/>
          </a:xfrm>
          <a:prstGeom prst="rect">
            <a:avLst/>
          </a:prstGeom>
        </p:spPr>
      </p:pic>
      <p:sp>
        <p:nvSpPr>
          <p:cNvPr id="1080" name="円/楕円 1079">
            <a:extLst>
              <a:ext uri="{FF2B5EF4-FFF2-40B4-BE49-F238E27FC236}">
                <a16:creationId xmlns:a16="http://schemas.microsoft.com/office/drawing/2014/main" id="{F8CD7539-21A5-8504-2921-395D2C53CE14}"/>
              </a:ext>
            </a:extLst>
          </p:cNvPr>
          <p:cNvSpPr>
            <a:spLocks noChangeAspect="1"/>
          </p:cNvSpPr>
          <p:nvPr/>
        </p:nvSpPr>
        <p:spPr>
          <a:xfrm>
            <a:off x="6726268" y="4390417"/>
            <a:ext cx="142875" cy="142875"/>
          </a:xfrm>
          <a:prstGeom prst="ellipse">
            <a:avLst/>
          </a:prstGeom>
          <a:solidFill>
            <a:srgbClr val="B8D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正方形/長方形 1080">
            <a:extLst>
              <a:ext uri="{FF2B5EF4-FFF2-40B4-BE49-F238E27FC236}">
                <a16:creationId xmlns:a16="http://schemas.microsoft.com/office/drawing/2014/main" id="{39524C61-5773-2AD5-B891-C7616945C62F}"/>
              </a:ext>
            </a:extLst>
          </p:cNvPr>
          <p:cNvSpPr>
            <a:spLocks noChangeAspect="1"/>
          </p:cNvSpPr>
          <p:nvPr/>
        </p:nvSpPr>
        <p:spPr>
          <a:xfrm rot="18889017">
            <a:off x="6777828" y="4434533"/>
            <a:ext cx="45719" cy="45719"/>
          </a:xfrm>
          <a:prstGeom prst="rect">
            <a:avLst/>
          </a:prstGeom>
          <a:solidFill>
            <a:srgbClr val="FF660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C49C867-4487-E945-06F2-CEAD3FBFEF1B}"/>
              </a:ext>
            </a:extLst>
          </p:cNvPr>
          <p:cNvSpPr/>
          <p:nvPr/>
        </p:nvSpPr>
        <p:spPr>
          <a:xfrm rot="21276273">
            <a:off x="6264188" y="1371507"/>
            <a:ext cx="152762" cy="1174862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848B79-7645-983A-91E3-FD22CC0759EA}"/>
              </a:ext>
            </a:extLst>
          </p:cNvPr>
          <p:cNvSpPr/>
          <p:nvPr/>
        </p:nvSpPr>
        <p:spPr>
          <a:xfrm rot="315529">
            <a:off x="4840237" y="1371390"/>
            <a:ext cx="152762" cy="1202921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17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