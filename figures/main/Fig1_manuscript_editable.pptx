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 1 artwork (manuscript image, text removed by cover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ver: A_title"/>
          <p:cNvSpPr/>
          <p:nvPr/>
        </p:nvSpPr>
        <p:spPr>
          <a:xfrm>
            <a:off x="259080" y="338328"/>
            <a:ext cx="3517392" cy="33528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1" name="text: A_title"/>
          <p:cNvSpPr txBox="1"/>
          <p:nvPr/>
        </p:nvSpPr>
        <p:spPr>
          <a:xfrm>
            <a:off x="259080" y="338328"/>
            <a:ext cx="3779032" cy="335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050" b="1" i="0" dirty="0">
                <a:solidFill>
                  <a:srgbClr val="000000"/>
                </a:solidFill>
                <a:latin typeface="Arial"/>
                <a:cs typeface="Arial"/>
              </a:rPr>
              <a:t>(A) Traditional Sampling</a:t>
            </a:r>
          </a:p>
        </p:txBody>
      </p:sp>
      <p:sp>
        <p:nvSpPr>
          <p:cNvPr id="12" name="cover: A_sub"/>
          <p:cNvSpPr/>
          <p:nvPr/>
        </p:nvSpPr>
        <p:spPr>
          <a:xfrm>
            <a:off x="768096" y="685800"/>
            <a:ext cx="2093976" cy="265176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3" name="text: A_sub"/>
          <p:cNvSpPr txBox="1"/>
          <p:nvPr/>
        </p:nvSpPr>
        <p:spPr>
          <a:xfrm>
            <a:off x="698945" y="685800"/>
            <a:ext cx="2232279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550" b="0" i="0" dirty="0">
                <a:solidFill>
                  <a:srgbClr val="000000"/>
                </a:solidFill>
                <a:latin typeface="Arial"/>
                <a:cs typeface="Arial"/>
              </a:rPr>
              <a:t>(e.g., Grid sampling)</a:t>
            </a:r>
          </a:p>
        </p:txBody>
      </p:sp>
      <p:sp>
        <p:nvSpPr>
          <p:cNvPr id="14" name="cover: A_oneoff"/>
          <p:cNvSpPr/>
          <p:nvPr/>
        </p:nvSpPr>
        <p:spPr>
          <a:xfrm>
            <a:off x="2801112" y="4309872"/>
            <a:ext cx="978408" cy="414528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5" name="text: A_oneoff"/>
          <p:cNvSpPr txBox="1"/>
          <p:nvPr/>
        </p:nvSpPr>
        <p:spPr>
          <a:xfrm>
            <a:off x="2796540" y="4309872"/>
            <a:ext cx="987552" cy="414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00" b="0" i="0" dirty="0">
                <a:solidFill>
                  <a:srgbClr val="000000"/>
                </a:solidFill>
                <a:latin typeface="Arial"/>
                <a:cs typeface="Arial"/>
              </a:rPr>
              <a:t>One-off,</a:t>
            </a:r>
          </a:p>
          <a:p>
            <a:pPr algn="ctr">
              <a:lnSpc>
                <a:spcPct val="105000"/>
              </a:lnSpc>
            </a:pPr>
            <a:r>
              <a:rPr lang="en-US" sz="1200" b="0" i="0" dirty="0">
                <a:solidFill>
                  <a:srgbClr val="000000"/>
                </a:solidFill>
                <a:latin typeface="Arial"/>
                <a:cs typeface="Arial"/>
              </a:rPr>
              <a:t>fixed design</a:t>
            </a:r>
          </a:p>
        </p:txBody>
      </p:sp>
      <p:sp>
        <p:nvSpPr>
          <p:cNvPr id="16" name="cover: A_data"/>
          <p:cNvSpPr/>
          <p:nvPr/>
        </p:nvSpPr>
        <p:spPr>
          <a:xfrm>
            <a:off x="1450848" y="5224272"/>
            <a:ext cx="1408176" cy="2621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text: A_data"/>
          <p:cNvSpPr txBox="1"/>
          <p:nvPr/>
        </p:nvSpPr>
        <p:spPr>
          <a:xfrm>
            <a:off x="1419416" y="5224272"/>
            <a:ext cx="1471041" cy="262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650" b="0" i="0" dirty="0">
                <a:solidFill>
                  <a:srgbClr val="000000"/>
                </a:solidFill>
                <a:latin typeface="Arial"/>
                <a:cs typeface="Arial"/>
              </a:rPr>
              <a:t>Data Analysis</a:t>
            </a:r>
          </a:p>
        </p:txBody>
      </p:sp>
      <p:sp>
        <p:nvSpPr>
          <p:cNvPr id="18" name="cover: A_blind"/>
          <p:cNvSpPr/>
          <p:nvPr/>
        </p:nvSpPr>
        <p:spPr>
          <a:xfrm>
            <a:off x="890016" y="5733288"/>
            <a:ext cx="2490216" cy="374904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9" name="text: A_blind"/>
          <p:cNvSpPr txBox="1"/>
          <p:nvPr/>
        </p:nvSpPr>
        <p:spPr>
          <a:xfrm>
            <a:off x="829361" y="5733288"/>
            <a:ext cx="2611526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2000" b="1" i="0" dirty="0">
                <a:solidFill>
                  <a:srgbClr val="000000"/>
                </a:solidFill>
                <a:latin typeface="Arial"/>
                <a:cs typeface="Arial"/>
              </a:rPr>
              <a:t>Blind Exploration</a:t>
            </a:r>
          </a:p>
        </p:txBody>
      </p:sp>
      <p:sp>
        <p:nvSpPr>
          <p:cNvPr id="20" name="cover: A_desc"/>
          <p:cNvSpPr/>
          <p:nvPr/>
        </p:nvSpPr>
        <p:spPr>
          <a:xfrm>
            <a:off x="594360" y="6025896"/>
            <a:ext cx="3060192" cy="445008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21" name="text: A_desc"/>
          <p:cNvSpPr txBox="1"/>
          <p:nvPr/>
        </p:nvSpPr>
        <p:spPr>
          <a:xfrm>
            <a:off x="504254" y="6025896"/>
            <a:ext cx="3240405" cy="445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000000"/>
                </a:solidFill>
                <a:latin typeface="Arial"/>
                <a:cs typeface="Arial"/>
              </a:rPr>
              <a:t>Often inefficient, misses hotspots,</a:t>
            </a:r>
          </a:p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000000"/>
                </a:solidFill>
                <a:latin typeface="Arial"/>
                <a:cs typeface="Arial"/>
              </a:rPr>
              <a:t>and high cost &amp; effort</a:t>
            </a:r>
          </a:p>
        </p:txBody>
      </p:sp>
      <p:sp>
        <p:nvSpPr>
          <p:cNvPr id="22" name="cover: B_title"/>
          <p:cNvSpPr/>
          <p:nvPr/>
        </p:nvSpPr>
        <p:spPr>
          <a:xfrm>
            <a:off x="4419600" y="332232"/>
            <a:ext cx="7333488" cy="33528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23" name="text: B_title"/>
          <p:cNvSpPr txBox="1"/>
          <p:nvPr/>
        </p:nvSpPr>
        <p:spPr>
          <a:xfrm>
            <a:off x="4419600" y="321278"/>
            <a:ext cx="7949794" cy="3571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250" b="1" i="0" dirty="0">
                <a:solidFill>
                  <a:srgbClr val="000000"/>
                </a:solidFill>
                <a:latin typeface="Arial"/>
                <a:cs typeface="Arial"/>
              </a:rPr>
              <a:t>(B) Bayesian Adaptive Sampling (BAS) Framework</a:t>
            </a:r>
          </a:p>
        </p:txBody>
      </p:sp>
      <p:sp>
        <p:nvSpPr>
          <p:cNvPr id="24" name="cover: B_h1"/>
          <p:cNvSpPr/>
          <p:nvPr/>
        </p:nvSpPr>
        <p:spPr>
          <a:xfrm>
            <a:off x="4843272" y="856488"/>
            <a:ext cx="1612392" cy="237744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25" name="text: B_h1"/>
          <p:cNvSpPr txBox="1"/>
          <p:nvPr/>
        </p:nvSpPr>
        <p:spPr>
          <a:xfrm>
            <a:off x="4802505" y="856488"/>
            <a:ext cx="169392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00" b="0" i="0" dirty="0">
                <a:solidFill>
                  <a:srgbClr val="FFFFFF"/>
                </a:solidFill>
                <a:latin typeface="Arial"/>
                <a:cs typeface="Arial"/>
              </a:rPr>
              <a:t>1. Initial Sampling</a:t>
            </a:r>
          </a:p>
        </p:txBody>
      </p:sp>
      <p:sp>
        <p:nvSpPr>
          <p:cNvPr id="26" name="cover: B_few"/>
          <p:cNvSpPr/>
          <p:nvPr/>
        </p:nvSpPr>
        <p:spPr>
          <a:xfrm>
            <a:off x="4852416" y="1173480"/>
            <a:ext cx="1563624" cy="256032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27" name="text: B_few"/>
          <p:cNvSpPr txBox="1"/>
          <p:nvPr/>
        </p:nvSpPr>
        <p:spPr>
          <a:xfrm>
            <a:off x="4819841" y="1173480"/>
            <a:ext cx="1628775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50" b="0" i="0" dirty="0">
                <a:solidFill>
                  <a:srgbClr val="000000"/>
                </a:solidFill>
                <a:latin typeface="Arial"/>
                <a:cs typeface="Arial"/>
              </a:rPr>
              <a:t>Few points &amp; Priors</a:t>
            </a:r>
          </a:p>
        </p:txBody>
      </p:sp>
      <p:sp>
        <p:nvSpPr>
          <p:cNvPr id="28" name="cover: B_h2"/>
          <p:cNvSpPr/>
          <p:nvPr/>
        </p:nvSpPr>
        <p:spPr>
          <a:xfrm>
            <a:off x="8570976" y="822960"/>
            <a:ext cx="2228088" cy="237744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29" name="text: B_h2"/>
          <p:cNvSpPr txBox="1"/>
          <p:nvPr/>
        </p:nvSpPr>
        <p:spPr>
          <a:xfrm>
            <a:off x="8527733" y="822960"/>
            <a:ext cx="2314575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FFFFFF"/>
                </a:solidFill>
                <a:latin typeface="Arial"/>
                <a:cs typeface="Arial"/>
              </a:rPr>
              <a:t>2. Probabilistic Modeling</a:t>
            </a:r>
          </a:p>
        </p:txBody>
      </p:sp>
      <p:sp>
        <p:nvSpPr>
          <p:cNvPr id="30" name="cover: B_rich"/>
          <p:cNvSpPr/>
          <p:nvPr/>
        </p:nvSpPr>
        <p:spPr>
          <a:xfrm>
            <a:off x="7836408" y="1164336"/>
            <a:ext cx="758952" cy="179832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31" name="text: B_rich"/>
          <p:cNvSpPr txBox="1"/>
          <p:nvPr/>
        </p:nvSpPr>
        <p:spPr>
          <a:xfrm>
            <a:off x="7831836" y="1143127"/>
            <a:ext cx="768096" cy="222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400" b="0" i="0" dirty="0">
                <a:solidFill>
                  <a:srgbClr val="000000"/>
                </a:solidFill>
                <a:latin typeface="Arial"/>
                <a:cs typeface="Arial"/>
              </a:rPr>
              <a:t>Richness</a:t>
            </a:r>
          </a:p>
        </p:txBody>
      </p:sp>
      <p:sp>
        <p:nvSpPr>
          <p:cNvPr id="32" name="cover: B_uniq"/>
          <p:cNvSpPr/>
          <p:nvPr/>
        </p:nvSpPr>
        <p:spPr>
          <a:xfrm>
            <a:off x="9214104" y="1161288"/>
            <a:ext cx="963168" cy="213360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33" name="text: B_uniq"/>
          <p:cNvSpPr txBox="1"/>
          <p:nvPr/>
        </p:nvSpPr>
        <p:spPr>
          <a:xfrm>
            <a:off x="9198483" y="1152874"/>
            <a:ext cx="994410" cy="2301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450" b="0" i="0" dirty="0">
                <a:solidFill>
                  <a:srgbClr val="000000"/>
                </a:solidFill>
                <a:latin typeface="Arial"/>
                <a:cs typeface="Arial"/>
              </a:rPr>
              <a:t>Uniqueness</a:t>
            </a:r>
          </a:p>
        </p:txBody>
      </p:sp>
      <p:sp>
        <p:nvSpPr>
          <p:cNvPr id="34" name="cover: B_unc"/>
          <p:cNvSpPr/>
          <p:nvPr/>
        </p:nvSpPr>
        <p:spPr>
          <a:xfrm>
            <a:off x="10713720" y="1164336"/>
            <a:ext cx="929640" cy="213360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35" name="text: B_unc"/>
          <p:cNvSpPr txBox="1"/>
          <p:nvPr/>
        </p:nvSpPr>
        <p:spPr>
          <a:xfrm>
            <a:off x="10707053" y="1164336"/>
            <a:ext cx="942975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50" b="0" i="0" dirty="0">
                <a:solidFill>
                  <a:srgbClr val="000000"/>
                </a:solidFill>
                <a:latin typeface="Arial"/>
                <a:cs typeface="Arial"/>
              </a:rPr>
              <a:t>Uncertainty</a:t>
            </a:r>
          </a:p>
        </p:txBody>
      </p:sp>
      <p:sp>
        <p:nvSpPr>
          <p:cNvPr id="36" name="cover: B_update"/>
          <p:cNvSpPr/>
          <p:nvPr/>
        </p:nvSpPr>
        <p:spPr>
          <a:xfrm>
            <a:off x="4748784" y="3361944"/>
            <a:ext cx="1731264" cy="21336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37" name="text: B_update"/>
          <p:cNvSpPr txBox="1"/>
          <p:nvPr/>
        </p:nvSpPr>
        <p:spPr>
          <a:xfrm>
            <a:off x="4722876" y="3361944"/>
            <a:ext cx="17830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00" b="0" i="0" dirty="0">
                <a:solidFill>
                  <a:srgbClr val="000000"/>
                </a:solidFill>
                <a:latin typeface="Arial"/>
                <a:cs typeface="Arial"/>
              </a:rPr>
              <a:t>Update with new data</a:t>
            </a:r>
          </a:p>
        </p:txBody>
      </p:sp>
      <p:sp>
        <p:nvSpPr>
          <p:cNvPr id="38" name="cover: B_max"/>
          <p:cNvSpPr/>
          <p:nvPr/>
        </p:nvSpPr>
        <p:spPr>
          <a:xfrm>
            <a:off x="7510272" y="3227832"/>
            <a:ext cx="2356104" cy="530352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39" name="text: B_max"/>
          <p:cNvSpPr txBox="1"/>
          <p:nvPr/>
        </p:nvSpPr>
        <p:spPr>
          <a:xfrm>
            <a:off x="7459370" y="3227832"/>
            <a:ext cx="2457907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600" b="1" i="0" dirty="0">
                <a:solidFill>
                  <a:srgbClr val="000000"/>
                </a:solidFill>
                <a:latin typeface="Arial"/>
                <a:cs typeface="Arial"/>
              </a:rPr>
              <a:t>Maximize information</a:t>
            </a:r>
          </a:p>
          <a:p>
            <a:pPr algn="ctr">
              <a:lnSpc>
                <a:spcPct val="105000"/>
              </a:lnSpc>
            </a:pPr>
            <a:r>
              <a:rPr lang="en-US" sz="1600" b="1" i="0" dirty="0">
                <a:solidFill>
                  <a:srgbClr val="000000"/>
                </a:solidFill>
                <a:latin typeface="Arial"/>
                <a:cs typeface="Arial"/>
              </a:rPr>
              <a:t>gained per sample</a:t>
            </a:r>
          </a:p>
        </p:txBody>
      </p:sp>
      <p:sp>
        <p:nvSpPr>
          <p:cNvPr id="40" name="cover: B_weight"/>
          <p:cNvSpPr/>
          <p:nvPr/>
        </p:nvSpPr>
        <p:spPr>
          <a:xfrm>
            <a:off x="9101328" y="3968496"/>
            <a:ext cx="1563624" cy="249936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41" name="text: B_weight"/>
          <p:cNvSpPr txBox="1"/>
          <p:nvPr/>
        </p:nvSpPr>
        <p:spPr>
          <a:xfrm>
            <a:off x="9060180" y="3968496"/>
            <a:ext cx="1645920" cy="249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500" b="0" i="0" dirty="0">
                <a:solidFill>
                  <a:srgbClr val="000000"/>
                </a:solidFill>
                <a:latin typeface="Arial"/>
                <a:cs typeface="Arial"/>
              </a:rPr>
              <a:t>Weight &amp; Combine</a:t>
            </a:r>
          </a:p>
        </p:txBody>
      </p:sp>
      <p:sp>
        <p:nvSpPr>
          <p:cNvPr id="42" name="cover: B_h4"/>
          <p:cNvSpPr/>
          <p:nvPr/>
        </p:nvSpPr>
        <p:spPr>
          <a:xfrm>
            <a:off x="5748528" y="4056888"/>
            <a:ext cx="1947672" cy="237744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43" name="text: B_h4"/>
          <p:cNvSpPr txBox="1"/>
          <p:nvPr/>
        </p:nvSpPr>
        <p:spPr>
          <a:xfrm>
            <a:off x="5693664" y="4056698"/>
            <a:ext cx="2057400" cy="2381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4. Targeted Sampling</a:t>
            </a:r>
          </a:p>
        </p:txBody>
      </p:sp>
      <p:sp>
        <p:nvSpPr>
          <p:cNvPr id="44" name="cover: B_h3"/>
          <p:cNvSpPr/>
          <p:nvPr/>
        </p:nvSpPr>
        <p:spPr>
          <a:xfrm>
            <a:off x="9649968" y="4459224"/>
            <a:ext cx="2054352" cy="234696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45" name="text: B_h3"/>
          <p:cNvSpPr txBox="1"/>
          <p:nvPr/>
        </p:nvSpPr>
        <p:spPr>
          <a:xfrm>
            <a:off x="9612440" y="4459224"/>
            <a:ext cx="2129409" cy="234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FFFFFF"/>
                </a:solidFill>
                <a:latin typeface="Arial"/>
                <a:cs typeface="Arial"/>
              </a:rPr>
              <a:t>3. Acquisition Function</a:t>
            </a:r>
          </a:p>
        </p:txBody>
      </p:sp>
      <p:sp>
        <p:nvSpPr>
          <p:cNvPr id="46" name="cover: B_ax"/>
          <p:cNvSpPr/>
          <p:nvPr/>
        </p:nvSpPr>
        <p:spPr>
          <a:xfrm>
            <a:off x="10585704" y="4779264"/>
            <a:ext cx="374904" cy="213360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47" name="text: B_ax"/>
          <p:cNvSpPr txBox="1"/>
          <p:nvPr/>
        </p:nvSpPr>
        <p:spPr>
          <a:xfrm>
            <a:off x="10585704" y="4779264"/>
            <a:ext cx="374904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150" b="0" i="1" dirty="0">
                <a:solidFill>
                  <a:srgbClr val="000000"/>
                </a:solidFill>
                <a:latin typeface="Cambria Math"/>
                <a:cs typeface="Cambria Math"/>
              </a:rPr>
              <a:t>a(x)</a:t>
            </a:r>
          </a:p>
        </p:txBody>
      </p:sp>
      <p:sp>
        <p:nvSpPr>
          <p:cNvPr id="48" name="cover: B_select"/>
          <p:cNvSpPr/>
          <p:nvPr/>
        </p:nvSpPr>
        <p:spPr>
          <a:xfrm>
            <a:off x="8049768" y="5876544"/>
            <a:ext cx="1213104" cy="216408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49" name="text: B_select"/>
          <p:cNvSpPr txBox="1"/>
          <p:nvPr/>
        </p:nvSpPr>
        <p:spPr>
          <a:xfrm>
            <a:off x="8039100" y="5876544"/>
            <a:ext cx="1234440" cy="216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00" b="0" i="0" dirty="0">
                <a:solidFill>
                  <a:srgbClr val="000000"/>
                </a:solidFill>
                <a:latin typeface="Arial"/>
                <a:cs typeface="Arial"/>
              </a:rPr>
              <a:t>Select top </a:t>
            </a:r>
            <a:r>
              <a:rPr lang="en-US" sz="1200" b="0" i="1" dirty="0">
                <a:solidFill>
                  <a:srgbClr val="000000"/>
                </a:solidFill>
                <a:latin typeface="Cambria Math"/>
                <a:cs typeface="Cambria Math"/>
              </a:rPr>
              <a:t>a(x)</a:t>
            </a:r>
          </a:p>
        </p:txBody>
      </p:sp>
      <p:sp>
        <p:nvSpPr>
          <p:cNvPr id="50" name="cover: B_legend1"/>
          <p:cNvSpPr/>
          <p:nvPr/>
        </p:nvSpPr>
        <p:spPr>
          <a:xfrm>
            <a:off x="5029200" y="6035040"/>
            <a:ext cx="1146048" cy="21336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51" name="text: B_legend1"/>
          <p:cNvSpPr txBox="1"/>
          <p:nvPr/>
        </p:nvSpPr>
        <p:spPr>
          <a:xfrm>
            <a:off x="5029200" y="6035040"/>
            <a:ext cx="120015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250" b="0" i="0" dirty="0">
                <a:solidFill>
                  <a:srgbClr val="000000"/>
                </a:solidFill>
                <a:latin typeface="Arial"/>
                <a:cs typeface="Arial"/>
              </a:rPr>
              <a:t>Current points</a:t>
            </a:r>
          </a:p>
        </p:txBody>
      </p:sp>
      <p:sp>
        <p:nvSpPr>
          <p:cNvPr id="52" name="cover: B_legend2"/>
          <p:cNvSpPr/>
          <p:nvPr/>
        </p:nvSpPr>
        <p:spPr>
          <a:xfrm>
            <a:off x="5038344" y="6336792"/>
            <a:ext cx="2042160" cy="21336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53" name="text: B_legend2"/>
          <p:cNvSpPr txBox="1"/>
          <p:nvPr/>
        </p:nvSpPr>
        <p:spPr>
          <a:xfrm>
            <a:off x="5038344" y="6336792"/>
            <a:ext cx="2139696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300" b="0" i="0" dirty="0">
                <a:solidFill>
                  <a:srgbClr val="000000"/>
                </a:solidFill>
                <a:latin typeface="Arial"/>
                <a:cs typeface="Arial"/>
              </a:rPr>
              <a:t>Next BAS-selected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